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B7280"/>
                </a:solidFill>
                <a:latin typeface="+mn-lt"/>
              </a:defRPr>
            </a:pPr>
            <a:r>
              <a:rPr sz="1100" b="0" i="0" u="none" strike="noStrike">
                <a:solidFill>
                  <a:srgbClr val="6B7280"/>
                </a:solidFill>
                <a:latin typeface="+mn-lt"/>
              </a:rPr>
              <a:t>Validation outcome per report</a:t>
            </a:r>
          </a:p>
        </c:rich>
      </c:tx>
      <c:layout/>
      <c:overlay val="0"/>
    </c:title>
    <c:autoTitleDeleted val="0"/>
    <c:plotArea>
      <c:layout/>
      <c:barChart>
        <c:barDir val="col"/>
        <c:grouping val="stacked"/>
        <c:varyColors val="0"/>
        <c:ser>
          <c:idx val="0"/>
          <c:order val="0"/>
          <c:tx>
            <c:strRef>
              <c:f>Sheet1!$B$1</c:f>
              <c:strCache>
                <c:ptCount val="1"/>
                <c:pt idx="0">
                  <c:v>Passed</c:v>
                </c:pt>
              </c:strCache>
            </c:strRef>
          </c:tx>
          <c:spPr>
            <a:solidFill>
              <a:srgbClr val="0F766E"/>
            </a:solidFill>
            <a:effectLst/>
          </c:spPr>
          <c:invertIfNegative val="0"/>
          <c:dLbls>
            <c:numFmt formatCode="0;;;" sourceLinked="0"/>
            <c:txPr>
              <a:bodyPr/>
              <a:lstStyle/>
              <a:p>
                <a:pPr>
                  <a:defRPr b="0" i="0" strike="noStrike" sz="1000" u="none">
                    <a:solidFill>
                      <a:srgbClr val="1A1A1A"/>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Zero-shot</c:v>
                  </c:pt>
                  <c:pt idx="1">
                    <c:v>Few-shot</c:v>
                  </c:pt>
                  <c:pt idx="2">
                    <c:v>RAG</c:v>
                  </c:pt>
                </c:lvl>
              </c:multiLvlStrCache>
            </c:multiLvlStrRef>
          </c:cat>
          <c:val>
            <c:numRef>
              <c:f>Sheet1!$B$2:$B$4</c:f>
              <c:numCache>
                <c:formatCode>General</c:formatCode>
                <c:ptCount val="3"/>
                <c:pt idx="0">
                  <c:v>0</c:v>
                </c:pt>
                <c:pt idx="1">
                  <c:v>9</c:v>
                </c:pt>
                <c:pt idx="2">
                  <c:v>4</c:v>
                </c:pt>
              </c:numCache>
            </c:numRef>
          </c:val>
        </c:ser>
        <c:ser>
          <c:idx val="1"/>
          <c:order val="1"/>
          <c:tx>
            <c:strRef>
              <c:f>Sheet1!$C$1</c:f>
              <c:strCache>
                <c:ptCount val="1"/>
                <c:pt idx="0">
                  <c:v>Passed with warnings</c:v>
                </c:pt>
              </c:strCache>
            </c:strRef>
          </c:tx>
          <c:spPr>
            <a:solidFill>
              <a:srgbClr val="D4D4D8"/>
            </a:solidFill>
            <a:effectLst/>
          </c:spPr>
          <c:invertIfNegative val="0"/>
          <c:dLbls>
            <c:numFmt formatCode="0;;;" sourceLinked="0"/>
            <c:txPr>
              <a:bodyPr/>
              <a:lstStyle/>
              <a:p>
                <a:pPr>
                  <a:defRPr b="0" i="0" strike="noStrike" sz="1000" u="none">
                    <a:solidFill>
                      <a:srgbClr val="1A1A1A"/>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Zero-shot</c:v>
                  </c:pt>
                  <c:pt idx="1">
                    <c:v>Few-shot</c:v>
                  </c:pt>
                  <c:pt idx="2">
                    <c:v>RAG</c:v>
                  </c:pt>
                </c:lvl>
              </c:multiLvlStrCache>
            </c:multiLvlStrRef>
          </c:cat>
          <c:val>
            <c:numRef>
              <c:f>Sheet1!$C$2:$C$4</c:f>
              <c:numCache>
                <c:formatCode>General</c:formatCode>
                <c:ptCount val="3"/>
                <c:pt idx="0">
                  <c:v>9</c:v>
                </c:pt>
                <c:pt idx="1">
                  <c:v>0</c:v>
                </c:pt>
                <c:pt idx="2">
                  <c:v>5</c:v>
                </c:pt>
              </c:numCache>
            </c:numRef>
          </c:val>
        </c:ser>
        <c:ser>
          <c:idx val="2"/>
          <c:order val="2"/>
          <c:tx>
            <c:strRef>
              <c:f>Sheet1!$D$1</c:f>
              <c:strCache>
                <c:ptCount val="1"/>
                <c:pt idx="0">
                  <c:v>Failed</c:v>
                </c:pt>
              </c:strCache>
            </c:strRef>
          </c:tx>
          <c:spPr>
            <a:solidFill>
              <a:srgbClr val="B42318"/>
            </a:solidFill>
            <a:effectLst/>
          </c:spPr>
          <c:invertIfNegative val="0"/>
          <c:dLbls>
            <c:numFmt formatCode="0;;;" sourceLinked="0"/>
            <c:txPr>
              <a:bodyPr/>
              <a:lstStyle/>
              <a:p>
                <a:pPr>
                  <a:defRPr b="0" i="0" strike="noStrike" sz="1000" u="none">
                    <a:solidFill>
                      <a:srgbClr val="1A1A1A"/>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Zero-shot</c:v>
                  </c:pt>
                  <c:pt idx="1">
                    <c:v>Few-shot</c:v>
                  </c:pt>
                  <c:pt idx="2">
                    <c:v>RAG</c:v>
                  </c:pt>
                </c:lvl>
              </c:multiLvlStrCache>
            </c:multiLvlStrRef>
          </c:cat>
          <c:val>
            <c:numRef>
              <c:f>Sheet1!$D$2:$D$4</c:f>
              <c:numCache>
                <c:formatCode>General</c:formatCode>
                <c:ptCount val="3"/>
                <c:pt idx="0">
                  <c:v>0</c:v>
                </c:pt>
                <c:pt idx="1">
                  <c:v>0</c:v>
                </c:pt>
                <c:pt idx="2">
                  <c:v>0</c:v>
                </c:pt>
              </c:numCache>
            </c:numRef>
          </c:val>
        </c:ser>
        <c:dLbls>
          <c:numFmt formatCode="0;;;" sourceLinked="0"/>
          <c:txPr>
            <a:bodyPr/>
            <a:lstStyle/>
            <a:p>
              <a:pPr>
                <a:defRPr b="0" i="0" strike="noStrike" sz="1000" u="none">
                  <a:solidFill>
                    <a:srgbClr val="1A1A1A"/>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3"/>
      </c:valAx>
      <c:spPr>
        <a:noFill/>
        <a:ln>
          <a:noFill/>
        </a:ln>
        <a:effectLst/>
      </c:spPr>
    </c:plotArea>
    <c:legend>
      <c:legendPos val="b"/>
      <c:overlay val="0"/>
      <c:txPr>
        <a:bodyPr/>
        <a:lstStyle/>
        <a:p>
          <a:pPr>
            <a:defRPr sz="1000">
              <a:solidFill>
                <a:srgbClr val="6B728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team members. One line: MediSimplify reads a PDF lab report, keeps every value exactly as printed, and explains each result in plain language using trusted, cited references, with safety checks before anything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report line like this is clear to a doctor but not to a patient. The words are technical, the ranges vary by lab and age, and asking a generic chatbot is risky because it can change numbers, suggest a diagnosis or say everything is fine. Our goal is plain-language explanations that stay faithful to the report and to trusted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that map onto the pipeline: faithful extraction, trusted retrieval, three prompting strategies, structured output, safety validation and a reproducible evaluation. The scope is deliberately limited: an educational prototype tested on synthetic reports,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common ways people try to understand a report, and the main gap in each. Search and portals leave the patient to connect the dots. General chatbots are fluent but can change values or make unsafe claims. Rule-based text ignores the actual report, and fine-tuned models need data and compute a student project does not have. MediSimplify combines a general model with retrieval and strict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Extraction copies values verbatim and flags missing or conflicting data. Retrieval searches 20 public-domain MedlinePlus pages using test names only. Gemini returns JSON in a fixed schema with citation IDs. The validator checks the output against the report and the retrieved passages before the user sees it. Only structured test results are sent to the model, never names or report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strategies share the same system instructions, report facts, output schema and generation settings, so differences come from the prompt alone. Few-shot adds two reviewed examples written from synthetic values. RAG adds the retrieved passages, which the model must cite by ID. Report text is wrapped in delimiters and treated as data, so instructions hidden in a report are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validator compares the summary with the extracted facts and the retrieved passages. A changed value, an invented test or a citation to a passage that was not retrieved fails the summary, and so does diagnostic, treatment or falsely reassuring language. We measured the language check on a held-out set of 90 sentences written before the rules were tuned: it now catches 57 of 60 unsafe sentences, up from 3, and flags 1 of 30 safe ones. Both sets were written by the same author, so this is likely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run with gemini-3.5-flash-lite on 9 synthetic reports. No strategy changed a value or used unsafe language. Zero-shot added unsourced background to almost every test, so all its summaries carry warnings. Few-shot passed every check, but mainly because it explains very little. RAG is the only strategy that explains what each test measures with cited MedlinePlus sources; its warnings come from citing a passage retrieved for a neighbouring test. One run, nine reports, so the differences are descriptive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nine synthetic reports, same model and settings, only the prompt changes. All three kept every value, unit and range exact and used no unsafe wording. They differ in how much they explain and whether it is sourced: zero-shot added background to all 34 explanations without any source, few-shot added none, and RAG explained 30 of 34 with MedlinePlus citations, 95 percent of them on the right page. RAG missed one abnormal result, the low duplicate hemoglobin in the conflicting-values report. Reading grade is the Flesch-Kincaid level of the summary and explanations; few-shot is low mainly because its text is very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ignored the instruction to leave out unsourced background, so every summary carries warnings. Few-shot looks best on the checks, but only because it copies the examples and explains almost nothing, so passing checks is not the same as being useful. RAG is the only strategy that explains what each test measures with sources a reader can verify. The cost is a longer prompt, about five times zero-shot, with similar response time. Human ratings are the next step to confirm which summaries readers find clearest.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pipeline is implemented and public on GitHub. 236 backend tests cover extraction, retrieval, prompts, the validator, the Gemini error handling and the evaluation pipeline; 16 Playwright tests drive the web app in a real browser. On the evaluation set, extraction matched all 34 gold results exactly and retrieval picked the right MedlinePlus page for 29 of 30 covered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home page, where you upload a PDF or load a synthetic sample. Right: the results view. The sidebar tracks each processing stage; the summary panel shows the chosen strategy, the validation result and each test explained with citation tags linking to MedlinePlus.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what is done, the honest limitations and what comes next,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8046720" cy="548640"/>
          </a:xfrm>
          <a:prstGeom prst="rect">
            <a:avLst/>
          </a:prstGeom>
          <a:noFill/>
          <a:ln/>
        </p:spPr>
        <p:txBody>
          <a:bodyPr wrap="square" rtlCol="0"/>
          <a:lstStyle>
            <a:lvl1pPr algn="l" indent="0" marL="0">
              <a:buNone/>
              <a:defRPr lang="en-US" sz="28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richan_27/Library/Application Support/Claude/scratch-workspaces/8821d874-9d1d-447c-b3ce-86758ded99d7/e12ee5d5-8d20-414f-8940-61dc9a333d89/scratch-2026-10-27-9ba484/docs/presentation/assets/logo.png">    </p:cNvPr>
          <p:cNvPicPr>
            <a:picLocks noChangeAspect="1"/>
          </p:cNvPicPr>
          <p:nvPr/>
        </p:nvPicPr>
        <p:blipFill>
          <a:blip r:embed="rId1"/>
          <a:stretch>
            <a:fillRect/>
          </a:stretch>
        </p:blipFill>
        <p:spPr>
          <a:xfrm>
            <a:off x="548640" y="457200"/>
            <a:ext cx="2377440" cy="393192"/>
          </a:xfrm>
          <a:prstGeom prst="rect">
            <a:avLst/>
          </a:prstGeom>
        </p:spPr>
      </p:pic>
      <p:sp>
        <p:nvSpPr>
          <p:cNvPr id="3" name="Text 0"/>
          <p:cNvSpPr txBox="1"/>
          <p:nvPr/>
        </p:nvSpPr>
        <p:spPr>
          <a:xfrm>
            <a:off x="548640" y="1417320"/>
            <a:ext cx="8046720" cy="685800"/>
          </a:xfrm>
          <a:prstGeom prst="rect">
            <a:avLst/>
          </a:prstGeom>
          <a:noFill/>
          <a:ln/>
        </p:spPr>
        <p:txBody>
          <a:bodyPr wrap="square" lIns="0" tIns="0" rIns="0" bIns="0" rtlCol="0" anchor="t"/>
          <a:lstStyle/>
          <a:p>
            <a:pPr indent="0" marL="0">
              <a:buNone/>
            </a:pPr>
            <a:r>
              <a:rPr lang="en-US" sz="4000" b="1" dirty="0">
                <a:solidFill>
                  <a:schemeClr val="tx1"/>
                </a:solidFill>
              </a:rPr>
              <a:t>MediSimplify</a:t>
            </a:r>
            <a:endParaRPr lang="en-US" sz="4000" dirty="0"/>
          </a:p>
        </p:txBody>
      </p:sp>
      <p:sp>
        <p:nvSpPr>
          <p:cNvPr id="4" name="Text 1"/>
          <p:cNvSpPr txBox="1"/>
          <p:nvPr/>
        </p:nvSpPr>
        <p:spPr>
          <a:xfrm>
            <a:off x="548640" y="2148840"/>
            <a:ext cx="7498080" cy="777240"/>
          </a:xfrm>
          <a:prstGeom prst="rect">
            <a:avLst/>
          </a:prstGeom>
          <a:noFill/>
          <a:ln/>
        </p:spPr>
        <p:txBody>
          <a:bodyPr wrap="square" lIns="0" tIns="0" rIns="0" bIns="0" rtlCol="0" anchor="t"/>
          <a:lstStyle/>
          <a:p>
            <a:pPr indent="0" marL="0">
              <a:buNone/>
            </a:pPr>
            <a:r>
              <a:rPr lang="en-US" sz="1800" dirty="0">
                <a:solidFill>
                  <a:schemeClr val="accent6"/>
                </a:solidFill>
              </a:rPr>
              <a:t>Converting Medical Reports into Patient-Friendly Summaries Using Prompt Engineering and Retrieval-Augmented Generation</a:t>
            </a:r>
            <a:endParaRPr lang="en-US" sz="1800" dirty="0"/>
          </a:p>
        </p:txBody>
      </p:sp>
      <p:sp>
        <p:nvSpPr>
          <p:cNvPr id="5" name="Shape 2"/>
          <p:cNvSpPr/>
          <p:nvPr/>
        </p:nvSpPr>
        <p:spPr>
          <a:xfrm>
            <a:off x="548640" y="3246120"/>
            <a:ext cx="8046720" cy="0"/>
          </a:xfrm>
          <a:prstGeom prst="line">
            <a:avLst/>
          </a:prstGeom>
          <a:noFill/>
          <a:ln w="9525">
            <a:solidFill>
              <a:srgbClr val="D4D4D8"/>
            </a:solidFill>
            <a:prstDash val="solid"/>
          </a:ln>
        </p:spPr>
      </p:sp>
      <p:sp>
        <p:nvSpPr>
          <p:cNvPr id="6" name="Text 3"/>
          <p:cNvSpPr txBox="1"/>
          <p:nvPr/>
        </p:nvSpPr>
        <p:spPr>
          <a:xfrm>
            <a:off x="548640" y="3429000"/>
            <a:ext cx="3657600" cy="548640"/>
          </a:xfrm>
          <a:prstGeom prst="rect">
            <a:avLst/>
          </a:prstGeom>
          <a:noFill/>
          <a:ln/>
        </p:spPr>
        <p:txBody>
          <a:bodyPr wrap="square" lIns="0" tIns="0" rIns="0" bIns="0" rtlCol="0" anchor="t"/>
          <a:lstStyle/>
          <a:p>
            <a:pPr indent="0" marL="0">
              <a:buNone/>
            </a:pPr>
            <a:r>
              <a:rPr lang="en-US" sz="1300" b="1" dirty="0">
                <a:solidFill>
                  <a:schemeClr val="tx1"/>
                </a:solidFill>
              </a:rPr>
              <a:t>Richan Abraham J R</a:t>
            </a:r>
            <a:endParaRPr lang="en-US" sz="1300" dirty="0"/>
          </a:p>
          <a:p>
            <a:pPr indent="0" marL="0">
              <a:buNone/>
            </a:pPr>
            <a:r>
              <a:rPr lang="en-US" sz="1300" dirty="0">
                <a:solidFill>
                  <a:schemeClr val="accent5"/>
                </a:solidFill>
              </a:rPr>
              <a:t>URK23CS1086</a:t>
            </a:r>
            <a:endParaRPr lang="en-US" sz="1300" dirty="0"/>
          </a:p>
        </p:txBody>
      </p:sp>
      <p:sp>
        <p:nvSpPr>
          <p:cNvPr id="7" name="Text 4"/>
          <p:cNvSpPr txBox="1"/>
          <p:nvPr/>
        </p:nvSpPr>
        <p:spPr>
          <a:xfrm>
            <a:off x="4206240" y="3429000"/>
            <a:ext cx="4389120" cy="548640"/>
          </a:xfrm>
          <a:prstGeom prst="rect">
            <a:avLst/>
          </a:prstGeom>
          <a:noFill/>
          <a:ln/>
        </p:spPr>
        <p:txBody>
          <a:bodyPr wrap="square" lIns="0" tIns="0" rIns="0" bIns="0" rtlCol="0" anchor="t"/>
          <a:lstStyle/>
          <a:p>
            <a:pPr indent="0" marL="0">
              <a:buNone/>
            </a:pPr>
            <a:r>
              <a:rPr lang="en-US" sz="1300" b="1" dirty="0">
                <a:solidFill>
                  <a:schemeClr val="tx1"/>
                </a:solidFill>
              </a:rPr>
              <a:t>Sourav Ghosh</a:t>
            </a:r>
            <a:endParaRPr lang="en-US" sz="1300" dirty="0"/>
          </a:p>
          <a:p>
            <a:pPr indent="0" marL="0">
              <a:buNone/>
            </a:pPr>
            <a:r>
              <a:rPr lang="en-US" sz="1300" dirty="0">
                <a:solidFill>
                  <a:schemeClr val="accent5"/>
                </a:solidFill>
              </a:rPr>
              <a:t>URK23CS1084</a:t>
            </a:r>
            <a:endParaRPr lang="en-US" sz="1300" dirty="0"/>
          </a:p>
        </p:txBody>
      </p:sp>
      <p:sp>
        <p:nvSpPr>
          <p:cNvPr id="8" name="Text 5"/>
          <p:cNvSpPr txBox="1"/>
          <p:nvPr/>
        </p:nvSpPr>
        <p:spPr>
          <a:xfrm>
            <a:off x="548640" y="4434840"/>
            <a:ext cx="8046720" cy="274320"/>
          </a:xfrm>
          <a:prstGeom prst="rect">
            <a:avLst/>
          </a:prstGeom>
          <a:noFill/>
          <a:ln/>
        </p:spPr>
        <p:txBody>
          <a:bodyPr wrap="square" lIns="0" tIns="0" rIns="0" bIns="0" rtlCol="0" anchor="t"/>
          <a:lstStyle/>
          <a:p>
            <a:pPr indent="0" marL="0">
              <a:buNone/>
            </a:pPr>
            <a:r>
              <a:rPr lang="en-US" sz="1100" dirty="0">
                <a:solidFill>
                  <a:schemeClr val="accent5"/>
                </a:solidFill>
              </a:rPr>
              <a:t>Mini Project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Problem</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Lab reports are written for doctors, not patients</a:t>
            </a:r>
            <a:endParaRPr lang="en-US" sz="2800" dirty="0"/>
          </a:p>
        </p:txBody>
      </p:sp>
      <p:sp>
        <p:nvSpPr>
          <p:cNvPr id="4" name="Text 2"/>
          <p:cNvSpPr txBox="1"/>
          <p:nvPr/>
        </p:nvSpPr>
        <p:spPr>
          <a:xfrm>
            <a:off x="548640" y="1417320"/>
            <a:ext cx="8046720" cy="411480"/>
          </a:xfrm>
          <a:prstGeom prst="rect">
            <a:avLst/>
          </a:prstGeom>
          <a:noFill/>
          <a:ln/>
        </p:spPr>
        <p:txBody>
          <a:bodyPr wrap="square" lIns="0" tIns="0" rIns="0" bIns="0" rtlCol="0" anchor="t"/>
          <a:lstStyle/>
          <a:p>
            <a:pPr indent="0" marL="0">
              <a:buNone/>
            </a:pPr>
            <a:r>
              <a:rPr lang="en-US" sz="1700" dirty="0">
                <a:solidFill>
                  <a:schemeClr val="tx1"/>
                </a:solidFill>
                <a:latin typeface="Courier New" pitchFamily="34" charset="0"/>
                <a:ea typeface="Courier New" pitchFamily="34" charset="-122"/>
                <a:cs typeface="Courier New" pitchFamily="34" charset="-120"/>
              </a:rPr>
              <a:t>Glucose, Fasting     128     H     mg/dL     70 - 99</a:t>
            </a:r>
            <a:endParaRPr lang="en-US" sz="1700" dirty="0"/>
          </a:p>
        </p:txBody>
      </p:sp>
      <p:sp>
        <p:nvSpPr>
          <p:cNvPr id="5" name="Text 3"/>
          <p:cNvSpPr txBox="1"/>
          <p:nvPr/>
        </p:nvSpPr>
        <p:spPr>
          <a:xfrm>
            <a:off x="548640" y="1874520"/>
            <a:ext cx="8046720" cy="320040"/>
          </a:xfrm>
          <a:prstGeom prst="rect">
            <a:avLst/>
          </a:prstGeom>
          <a:noFill/>
          <a:ln/>
        </p:spPr>
        <p:txBody>
          <a:bodyPr wrap="square" lIns="0" tIns="0" rIns="0" bIns="0" rtlCol="0" anchor="t"/>
          <a:lstStyle/>
          <a:p>
            <a:pPr indent="0" marL="0">
              <a:buNone/>
            </a:pPr>
            <a:r>
              <a:rPr lang="en-US" sz="1400" dirty="0">
                <a:solidFill>
                  <a:schemeClr val="accent1"/>
                </a:solidFill>
              </a:rPr>
              <a:t>Is 128 bad? What does H mean? What is this test for?</a:t>
            </a:r>
            <a:endParaRPr lang="en-US" sz="1400" dirty="0"/>
          </a:p>
        </p:txBody>
      </p:sp>
      <p:sp>
        <p:nvSpPr>
          <p:cNvPr id="6" name="Text 4"/>
          <p:cNvSpPr txBox="1"/>
          <p:nvPr/>
        </p:nvSpPr>
        <p:spPr>
          <a:xfrm>
            <a:off x="548640" y="2606040"/>
            <a:ext cx="2377440" cy="320040"/>
          </a:xfrm>
          <a:prstGeom prst="rect">
            <a:avLst/>
          </a:prstGeom>
          <a:noFill/>
          <a:ln/>
        </p:spPr>
        <p:txBody>
          <a:bodyPr wrap="square" lIns="0" tIns="0" rIns="0" bIns="0" rtlCol="0" anchor="t"/>
          <a:lstStyle/>
          <a:p>
            <a:pPr indent="0" marL="0">
              <a:buNone/>
            </a:pPr>
            <a:r>
              <a:rPr lang="en-US" sz="1500" b="1" dirty="0">
                <a:solidFill>
                  <a:schemeClr val="tx1"/>
                </a:solidFill>
              </a:rPr>
              <a:t>Medical jargon</a:t>
            </a:r>
            <a:endParaRPr lang="en-US" sz="1500" dirty="0"/>
          </a:p>
        </p:txBody>
      </p:sp>
      <p:sp>
        <p:nvSpPr>
          <p:cNvPr id="7" name="Text 5"/>
          <p:cNvSpPr txBox="1"/>
          <p:nvPr/>
        </p:nvSpPr>
        <p:spPr>
          <a:xfrm>
            <a:off x="548640" y="3017520"/>
            <a:ext cx="2377440" cy="68580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Test names and abbreviations mean little to most patients</a:t>
            </a:r>
            <a:endParaRPr lang="en-US" sz="1300" dirty="0"/>
          </a:p>
        </p:txBody>
      </p:sp>
      <p:sp>
        <p:nvSpPr>
          <p:cNvPr id="8" name="Text 6"/>
          <p:cNvSpPr txBox="1"/>
          <p:nvPr/>
        </p:nvSpPr>
        <p:spPr>
          <a:xfrm>
            <a:off x="3291840" y="2606040"/>
            <a:ext cx="2377440" cy="320040"/>
          </a:xfrm>
          <a:prstGeom prst="rect">
            <a:avLst/>
          </a:prstGeom>
          <a:noFill/>
          <a:ln/>
        </p:spPr>
        <p:txBody>
          <a:bodyPr wrap="square" lIns="0" tIns="0" rIns="0" bIns="0" rtlCol="0" anchor="t"/>
          <a:lstStyle/>
          <a:p>
            <a:pPr indent="0" marL="0">
              <a:buNone/>
            </a:pPr>
            <a:r>
              <a:rPr lang="en-US" sz="1500" b="1" dirty="0">
                <a:solidFill>
                  <a:schemeClr val="tx1"/>
                </a:solidFill>
              </a:rPr>
              <a:t>Flags and ranges</a:t>
            </a:r>
            <a:endParaRPr lang="en-US" sz="1500" dirty="0"/>
          </a:p>
        </p:txBody>
      </p:sp>
      <p:sp>
        <p:nvSpPr>
          <p:cNvPr id="9" name="Text 7"/>
          <p:cNvSpPr txBox="1"/>
          <p:nvPr/>
        </p:nvSpPr>
        <p:spPr>
          <a:xfrm>
            <a:off x="3291840" y="3017520"/>
            <a:ext cx="2377440" cy="68580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Ranges differ by lab, age and layout; flags are easy to misread</a:t>
            </a:r>
            <a:endParaRPr lang="en-US" sz="1300" dirty="0"/>
          </a:p>
        </p:txBody>
      </p:sp>
      <p:sp>
        <p:nvSpPr>
          <p:cNvPr id="10" name="Text 8"/>
          <p:cNvSpPr txBox="1"/>
          <p:nvPr/>
        </p:nvSpPr>
        <p:spPr>
          <a:xfrm>
            <a:off x="6035040" y="2606040"/>
            <a:ext cx="2377440" cy="320040"/>
          </a:xfrm>
          <a:prstGeom prst="rect">
            <a:avLst/>
          </a:prstGeom>
          <a:noFill/>
          <a:ln/>
        </p:spPr>
        <p:txBody>
          <a:bodyPr wrap="square" lIns="0" tIns="0" rIns="0" bIns="0" rtlCol="0" anchor="t"/>
          <a:lstStyle/>
          <a:p>
            <a:pPr indent="0" marL="0">
              <a:buNone/>
            </a:pPr>
            <a:r>
              <a:rPr lang="en-US" sz="1500" b="1" dirty="0">
                <a:solidFill>
                  <a:schemeClr val="tx1"/>
                </a:solidFill>
              </a:rPr>
              <a:t>Unsafe shortcuts</a:t>
            </a:r>
            <a:endParaRPr lang="en-US" sz="1500" dirty="0"/>
          </a:p>
        </p:txBody>
      </p:sp>
      <p:sp>
        <p:nvSpPr>
          <p:cNvPr id="11" name="Text 9"/>
          <p:cNvSpPr txBox="1"/>
          <p:nvPr/>
        </p:nvSpPr>
        <p:spPr>
          <a:xfrm>
            <a:off x="6035040" y="3017520"/>
            <a:ext cx="2377440" cy="68580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Generic chatbots can change values, diagnose or falsely reassure</a:t>
            </a:r>
            <a:endParaRPr lang="en-US" sz="1300" dirty="0"/>
          </a:p>
        </p:txBody>
      </p:sp>
      <p:sp>
        <p:nvSpPr>
          <p:cNvPr id="12" name="Shape 10"/>
          <p:cNvSpPr/>
          <p:nvPr/>
        </p:nvSpPr>
        <p:spPr>
          <a:xfrm>
            <a:off x="548640" y="3703320"/>
            <a:ext cx="8046720" cy="0"/>
          </a:xfrm>
          <a:prstGeom prst="line">
            <a:avLst/>
          </a:prstGeom>
          <a:noFill/>
          <a:ln w="9525">
            <a:solidFill>
              <a:srgbClr val="D4D4D8"/>
            </a:solidFill>
            <a:prstDash val="solid"/>
          </a:ln>
        </p:spPr>
      </p:sp>
      <p:sp>
        <p:nvSpPr>
          <p:cNvPr id="13" name="Text 11"/>
          <p:cNvSpPr txBox="1"/>
          <p:nvPr/>
        </p:nvSpPr>
        <p:spPr>
          <a:xfrm>
            <a:off x="548640" y="3840480"/>
            <a:ext cx="8046720" cy="640080"/>
          </a:xfrm>
          <a:prstGeom prst="rect">
            <a:avLst/>
          </a:prstGeom>
          <a:noFill/>
          <a:ln/>
        </p:spPr>
        <p:txBody>
          <a:bodyPr wrap="square" lIns="0" tIns="0" rIns="0" bIns="0" rtlCol="0" anchor="t"/>
          <a:lstStyle/>
          <a:p>
            <a:pPr indent="0" marL="0">
              <a:buNone/>
            </a:pPr>
            <a:r>
              <a:rPr lang="en-US" sz="1500" dirty="0">
                <a:solidFill>
                  <a:schemeClr val="tx1"/>
                </a:solidFill>
              </a:rPr>
              <a:t>Goal: explain each result in plain language, keep every value exactly as printed, cite trusted sources and never diagnose.</a:t>
            </a:r>
            <a:endParaRPr lang="en-US" sz="15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Objectives and scope</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Objectives</a:t>
            </a:r>
            <a:endParaRPr lang="en-US" sz="2800" dirty="0"/>
          </a:p>
        </p:txBody>
      </p:sp>
      <p:sp>
        <p:nvSpPr>
          <p:cNvPr id="4" name="Text 2"/>
          <p:cNvSpPr txBox="1"/>
          <p:nvPr/>
        </p:nvSpPr>
        <p:spPr>
          <a:xfrm>
            <a:off x="548640" y="141732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1051560" y="1417320"/>
            <a:ext cx="3429000" cy="640080"/>
          </a:xfrm>
          <a:prstGeom prst="rect">
            <a:avLst/>
          </a:prstGeom>
          <a:noFill/>
          <a:ln/>
        </p:spPr>
        <p:txBody>
          <a:bodyPr wrap="square" lIns="0" tIns="0" rIns="0" bIns="0" rtlCol="0" anchor="t"/>
          <a:lstStyle/>
          <a:p>
            <a:pPr indent="0" marL="0">
              <a:buNone/>
            </a:pPr>
            <a:r>
              <a:rPr lang="en-US" sz="1400" dirty="0">
                <a:solidFill>
                  <a:schemeClr val="tx1"/>
                </a:solidFill>
              </a:rPr>
              <a:t>Extract test results from PDFs exactly as printed</a:t>
            </a:r>
            <a:endParaRPr lang="en-US" sz="1400" dirty="0"/>
          </a:p>
        </p:txBody>
      </p:sp>
      <p:sp>
        <p:nvSpPr>
          <p:cNvPr id="6" name="Text 4"/>
          <p:cNvSpPr txBox="1"/>
          <p:nvPr/>
        </p:nvSpPr>
        <p:spPr>
          <a:xfrm>
            <a:off x="4663440" y="141732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7" name="Text 5"/>
          <p:cNvSpPr txBox="1"/>
          <p:nvPr/>
        </p:nvSpPr>
        <p:spPr>
          <a:xfrm>
            <a:off x="5166360" y="1417320"/>
            <a:ext cx="3429000" cy="640080"/>
          </a:xfrm>
          <a:prstGeom prst="rect">
            <a:avLst/>
          </a:prstGeom>
          <a:noFill/>
          <a:ln/>
        </p:spPr>
        <p:txBody>
          <a:bodyPr wrap="square" lIns="0" tIns="0" rIns="0" bIns="0" rtlCol="0" anchor="t"/>
          <a:lstStyle/>
          <a:p>
            <a:pPr indent="0" marL="0">
              <a:buNone/>
            </a:pPr>
            <a:r>
              <a:rPr lang="en-US" sz="1400" dirty="0">
                <a:solidFill>
                  <a:schemeClr val="tx1"/>
                </a:solidFill>
              </a:rPr>
              <a:t>Retrieve trusted background from a curated MedlinePlus library</a:t>
            </a:r>
            <a:endParaRPr lang="en-US" sz="1400" dirty="0"/>
          </a:p>
        </p:txBody>
      </p:sp>
      <p:sp>
        <p:nvSpPr>
          <p:cNvPr id="8" name="Text 6"/>
          <p:cNvSpPr txBox="1"/>
          <p:nvPr/>
        </p:nvSpPr>
        <p:spPr>
          <a:xfrm>
            <a:off x="548640" y="219456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9" name="Text 7"/>
          <p:cNvSpPr txBox="1"/>
          <p:nvPr/>
        </p:nvSpPr>
        <p:spPr>
          <a:xfrm>
            <a:off x="1051560" y="2194560"/>
            <a:ext cx="3429000" cy="640080"/>
          </a:xfrm>
          <a:prstGeom prst="rect">
            <a:avLst/>
          </a:prstGeom>
          <a:noFill/>
          <a:ln/>
        </p:spPr>
        <p:txBody>
          <a:bodyPr wrap="square" lIns="0" tIns="0" rIns="0" bIns="0" rtlCol="0" anchor="t"/>
          <a:lstStyle/>
          <a:p>
            <a:pPr indent="0" marL="0">
              <a:buNone/>
            </a:pPr>
            <a:r>
              <a:rPr lang="en-US" sz="1400" dirty="0">
                <a:solidFill>
                  <a:schemeClr val="tx1"/>
                </a:solidFill>
              </a:rPr>
              <a:t>Compare zero-shot, few-shot and RAG-enhanced prompting</a:t>
            </a:r>
            <a:endParaRPr lang="en-US" sz="1400" dirty="0"/>
          </a:p>
        </p:txBody>
      </p:sp>
      <p:sp>
        <p:nvSpPr>
          <p:cNvPr id="10" name="Text 8"/>
          <p:cNvSpPr txBox="1"/>
          <p:nvPr/>
        </p:nvSpPr>
        <p:spPr>
          <a:xfrm>
            <a:off x="4663440" y="219456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04</a:t>
            </a:r>
            <a:endParaRPr lang="en-US" sz="1600" dirty="0"/>
          </a:p>
        </p:txBody>
      </p:sp>
      <p:sp>
        <p:nvSpPr>
          <p:cNvPr id="11" name="Text 9"/>
          <p:cNvSpPr txBox="1"/>
          <p:nvPr/>
        </p:nvSpPr>
        <p:spPr>
          <a:xfrm>
            <a:off x="5166360" y="2194560"/>
            <a:ext cx="3429000" cy="640080"/>
          </a:xfrm>
          <a:prstGeom prst="rect">
            <a:avLst/>
          </a:prstGeom>
          <a:noFill/>
          <a:ln/>
        </p:spPr>
        <p:txBody>
          <a:bodyPr wrap="square" lIns="0" tIns="0" rIns="0" bIns="0" rtlCol="0" anchor="t"/>
          <a:lstStyle/>
          <a:p>
            <a:pPr indent="0" marL="0">
              <a:buNone/>
            </a:pPr>
            <a:r>
              <a:rPr lang="en-US" sz="1400" dirty="0">
                <a:solidFill>
                  <a:schemeClr val="tx1"/>
                </a:solidFill>
              </a:rPr>
              <a:t>Return structured, cited summaries as JSON</a:t>
            </a:r>
            <a:endParaRPr lang="en-US" sz="1400" dirty="0"/>
          </a:p>
        </p:txBody>
      </p:sp>
      <p:sp>
        <p:nvSpPr>
          <p:cNvPr id="12" name="Text 10"/>
          <p:cNvSpPr txBox="1"/>
          <p:nvPr/>
        </p:nvSpPr>
        <p:spPr>
          <a:xfrm>
            <a:off x="548640" y="297180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05</a:t>
            </a:r>
            <a:endParaRPr lang="en-US" sz="1600" dirty="0"/>
          </a:p>
        </p:txBody>
      </p:sp>
      <p:sp>
        <p:nvSpPr>
          <p:cNvPr id="13" name="Text 11"/>
          <p:cNvSpPr txBox="1"/>
          <p:nvPr/>
        </p:nvSpPr>
        <p:spPr>
          <a:xfrm>
            <a:off x="1051560" y="2971800"/>
            <a:ext cx="3429000" cy="640080"/>
          </a:xfrm>
          <a:prstGeom prst="rect">
            <a:avLst/>
          </a:prstGeom>
          <a:noFill/>
          <a:ln/>
        </p:spPr>
        <p:txBody>
          <a:bodyPr wrap="square" lIns="0" tIns="0" rIns="0" bIns="0" rtlCol="0" anchor="t"/>
          <a:lstStyle/>
          <a:p>
            <a:pPr indent="0" marL="0">
              <a:buNone/>
            </a:pPr>
            <a:r>
              <a:rPr lang="en-US" sz="1400" dirty="0">
                <a:solidFill>
                  <a:schemeClr val="tx1"/>
                </a:solidFill>
              </a:rPr>
              <a:t>Check every summary for changed values and unsafe wording</a:t>
            </a:r>
            <a:endParaRPr lang="en-US" sz="1400" dirty="0"/>
          </a:p>
        </p:txBody>
      </p:sp>
      <p:sp>
        <p:nvSpPr>
          <p:cNvPr id="14" name="Text 12"/>
          <p:cNvSpPr txBox="1"/>
          <p:nvPr/>
        </p:nvSpPr>
        <p:spPr>
          <a:xfrm>
            <a:off x="4663440" y="297180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06</a:t>
            </a:r>
            <a:endParaRPr lang="en-US" sz="1600" dirty="0"/>
          </a:p>
        </p:txBody>
      </p:sp>
      <p:sp>
        <p:nvSpPr>
          <p:cNvPr id="15" name="Text 13"/>
          <p:cNvSpPr txBox="1"/>
          <p:nvPr/>
        </p:nvSpPr>
        <p:spPr>
          <a:xfrm>
            <a:off x="5166360" y="2971800"/>
            <a:ext cx="3429000" cy="640080"/>
          </a:xfrm>
          <a:prstGeom prst="rect">
            <a:avLst/>
          </a:prstGeom>
          <a:noFill/>
          <a:ln/>
        </p:spPr>
        <p:txBody>
          <a:bodyPr wrap="square" lIns="0" tIns="0" rIns="0" bIns="0" rtlCol="0" anchor="t"/>
          <a:lstStyle/>
          <a:p>
            <a:pPr indent="0" marL="0">
              <a:buNone/>
            </a:pPr>
            <a:r>
              <a:rPr lang="en-US" sz="1400" dirty="0">
                <a:solidFill>
                  <a:schemeClr val="tx1"/>
                </a:solidFill>
              </a:rPr>
              <a:t>Evaluate reproducibly on synthetic reports</a:t>
            </a:r>
            <a:endParaRPr lang="en-US" sz="1400" dirty="0"/>
          </a:p>
        </p:txBody>
      </p:sp>
      <p:sp>
        <p:nvSpPr>
          <p:cNvPr id="16" name="Shape 14"/>
          <p:cNvSpPr/>
          <p:nvPr/>
        </p:nvSpPr>
        <p:spPr>
          <a:xfrm>
            <a:off x="548640" y="3886200"/>
            <a:ext cx="8046720" cy="0"/>
          </a:xfrm>
          <a:prstGeom prst="line">
            <a:avLst/>
          </a:prstGeom>
          <a:noFill/>
          <a:ln w="9525">
            <a:solidFill>
              <a:srgbClr val="D4D4D8"/>
            </a:solidFill>
            <a:prstDash val="solid"/>
          </a:ln>
        </p:spPr>
      </p:sp>
      <p:sp>
        <p:nvSpPr>
          <p:cNvPr id="17" name="Text 15"/>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1300" b="1" dirty="0">
                <a:solidFill>
                  <a:schemeClr val="tx1"/>
                </a:solidFill>
              </a:rPr>
              <a:t>Scope  </a:t>
            </a:r>
            <a:pPr indent="0" marL="0">
              <a:buNone/>
            </a:pPr>
            <a:r>
              <a:rPr lang="en-US" sz="1300" dirty="0">
                <a:solidFill>
                  <a:schemeClr val="accent5"/>
                </a:solidFill>
              </a:rPr>
              <a:t>educational prototype · digitally generated PDFs · synthetic test data · not medical advice</a:t>
            </a:r>
            <a:endParaRPr lang="en-US" sz="13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Existing approaches</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Why existing approaches fall short</a:t>
            </a:r>
            <a:endParaRPr lang="en-US" sz="2800" dirty="0"/>
          </a:p>
        </p:txBody>
      </p:sp>
      <p:sp>
        <p:nvSpPr>
          <p:cNvPr id="4" name="Text 2"/>
          <p:cNvSpPr txBox="1"/>
          <p:nvPr/>
        </p:nvSpPr>
        <p:spPr>
          <a:xfrm>
            <a:off x="548640" y="1417320"/>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Search engines</a:t>
            </a:r>
            <a:endParaRPr lang="en-US" sz="1500" dirty="0"/>
          </a:p>
        </p:txBody>
      </p:sp>
      <p:sp>
        <p:nvSpPr>
          <p:cNvPr id="5" name="Text 3"/>
          <p:cNvSpPr txBox="1"/>
          <p:nvPr/>
        </p:nvSpPr>
        <p:spPr>
          <a:xfrm>
            <a:off x="4023360" y="1417320"/>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Generic pages; the patient must match each result alone</a:t>
            </a:r>
            <a:endParaRPr lang="en-US" sz="1400" dirty="0"/>
          </a:p>
        </p:txBody>
      </p:sp>
      <p:sp>
        <p:nvSpPr>
          <p:cNvPr id="6" name="Shape 4"/>
          <p:cNvSpPr/>
          <p:nvPr/>
        </p:nvSpPr>
        <p:spPr>
          <a:xfrm>
            <a:off x="548640" y="1947672"/>
            <a:ext cx="8046720" cy="0"/>
          </a:xfrm>
          <a:prstGeom prst="line">
            <a:avLst/>
          </a:prstGeom>
          <a:noFill/>
          <a:ln w="9525">
            <a:solidFill>
              <a:srgbClr val="D4D4D8"/>
            </a:solidFill>
            <a:prstDash val="solid"/>
          </a:ln>
        </p:spPr>
      </p:sp>
      <p:sp>
        <p:nvSpPr>
          <p:cNvPr id="7" name="Text 5"/>
          <p:cNvSpPr txBox="1"/>
          <p:nvPr/>
        </p:nvSpPr>
        <p:spPr>
          <a:xfrm>
            <a:off x="548640" y="2020824"/>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Generic AI chatbots</a:t>
            </a:r>
            <a:endParaRPr lang="en-US" sz="1500" dirty="0"/>
          </a:p>
        </p:txBody>
      </p:sp>
      <p:sp>
        <p:nvSpPr>
          <p:cNvPr id="8" name="Text 6"/>
          <p:cNvSpPr txBox="1"/>
          <p:nvPr/>
        </p:nvSpPr>
        <p:spPr>
          <a:xfrm>
            <a:off x="4023360" y="2020824"/>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Can alter values, invent facts, diagnose or falsely reassure</a:t>
            </a:r>
            <a:endParaRPr lang="en-US" sz="1400" dirty="0"/>
          </a:p>
        </p:txBody>
      </p:sp>
      <p:sp>
        <p:nvSpPr>
          <p:cNvPr id="9" name="Shape 7"/>
          <p:cNvSpPr/>
          <p:nvPr/>
        </p:nvSpPr>
        <p:spPr>
          <a:xfrm>
            <a:off x="548640" y="2551176"/>
            <a:ext cx="8046720" cy="0"/>
          </a:xfrm>
          <a:prstGeom prst="line">
            <a:avLst/>
          </a:prstGeom>
          <a:noFill/>
          <a:ln w="9525">
            <a:solidFill>
              <a:srgbClr val="D4D4D8"/>
            </a:solidFill>
            <a:prstDash val="solid"/>
          </a:ln>
        </p:spPr>
      </p:sp>
      <p:sp>
        <p:nvSpPr>
          <p:cNvPr id="10" name="Text 8"/>
          <p:cNvSpPr txBox="1"/>
          <p:nvPr/>
        </p:nvSpPr>
        <p:spPr>
          <a:xfrm>
            <a:off x="548640" y="2624328"/>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Patient portals</a:t>
            </a:r>
            <a:endParaRPr lang="en-US" sz="1500" dirty="0"/>
          </a:p>
        </p:txBody>
      </p:sp>
      <p:sp>
        <p:nvSpPr>
          <p:cNvPr id="11" name="Text 9"/>
          <p:cNvSpPr txBox="1"/>
          <p:nvPr/>
        </p:nvSpPr>
        <p:spPr>
          <a:xfrm>
            <a:off x="4023360" y="2624328"/>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Show numbers and flags with little explanation</a:t>
            </a:r>
            <a:endParaRPr lang="en-US" sz="1400" dirty="0"/>
          </a:p>
        </p:txBody>
      </p:sp>
      <p:sp>
        <p:nvSpPr>
          <p:cNvPr id="12" name="Shape 10"/>
          <p:cNvSpPr/>
          <p:nvPr/>
        </p:nvSpPr>
        <p:spPr>
          <a:xfrm>
            <a:off x="548640" y="3154680"/>
            <a:ext cx="8046720" cy="0"/>
          </a:xfrm>
          <a:prstGeom prst="line">
            <a:avLst/>
          </a:prstGeom>
          <a:noFill/>
          <a:ln w="9525">
            <a:solidFill>
              <a:srgbClr val="D4D4D8"/>
            </a:solidFill>
            <a:prstDash val="solid"/>
          </a:ln>
        </p:spPr>
      </p:sp>
      <p:sp>
        <p:nvSpPr>
          <p:cNvPr id="13" name="Text 11"/>
          <p:cNvSpPr txBox="1"/>
          <p:nvPr/>
        </p:nvSpPr>
        <p:spPr>
          <a:xfrm>
            <a:off x="548640" y="3227832"/>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Rule-based explainers</a:t>
            </a:r>
            <a:endParaRPr lang="en-US" sz="1500" dirty="0"/>
          </a:p>
        </p:txBody>
      </p:sp>
      <p:sp>
        <p:nvSpPr>
          <p:cNvPr id="14" name="Text 12"/>
          <p:cNvSpPr txBox="1"/>
          <p:nvPr/>
        </p:nvSpPr>
        <p:spPr>
          <a:xfrm>
            <a:off x="4023360" y="3227832"/>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Fixed text per test, no link to the actual report</a:t>
            </a:r>
            <a:endParaRPr lang="en-US" sz="1400" dirty="0"/>
          </a:p>
        </p:txBody>
      </p:sp>
      <p:sp>
        <p:nvSpPr>
          <p:cNvPr id="15" name="Shape 13"/>
          <p:cNvSpPr/>
          <p:nvPr/>
        </p:nvSpPr>
        <p:spPr>
          <a:xfrm>
            <a:off x="548640" y="3758184"/>
            <a:ext cx="8046720" cy="0"/>
          </a:xfrm>
          <a:prstGeom prst="line">
            <a:avLst/>
          </a:prstGeom>
          <a:noFill/>
          <a:ln w="9525">
            <a:solidFill>
              <a:srgbClr val="D4D4D8"/>
            </a:solidFill>
            <a:prstDash val="solid"/>
          </a:ln>
        </p:spPr>
      </p:sp>
      <p:sp>
        <p:nvSpPr>
          <p:cNvPr id="16" name="Text 14"/>
          <p:cNvSpPr txBox="1"/>
          <p:nvPr/>
        </p:nvSpPr>
        <p:spPr>
          <a:xfrm>
            <a:off x="548640" y="3831336"/>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Fine-tuned medical models</a:t>
            </a:r>
            <a:endParaRPr lang="en-US" sz="1500" dirty="0"/>
          </a:p>
        </p:txBody>
      </p:sp>
      <p:sp>
        <p:nvSpPr>
          <p:cNvPr id="17" name="Text 15"/>
          <p:cNvSpPr txBox="1"/>
          <p:nvPr/>
        </p:nvSpPr>
        <p:spPr>
          <a:xfrm>
            <a:off x="4023360" y="3831336"/>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Need large labelled datasets and heavy compute</a:t>
            </a:r>
            <a:endParaRPr lang="en-US" sz="14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Proposed methodology</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How MediSimplify works</a:t>
            </a:r>
            <a:endParaRPr lang="en-US" sz="2800" dirty="0"/>
          </a:p>
        </p:txBody>
      </p:sp>
      <p:sp>
        <p:nvSpPr>
          <p:cNvPr id="4" name="Text 2"/>
          <p:cNvSpPr txBox="1"/>
          <p:nvPr/>
        </p:nvSpPr>
        <p:spPr>
          <a:xfrm>
            <a:off x="548640" y="1463040"/>
            <a:ext cx="914400" cy="45720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5" name="Text 3"/>
          <p:cNvSpPr txBox="1"/>
          <p:nvPr/>
        </p:nvSpPr>
        <p:spPr>
          <a:xfrm>
            <a:off x="548640" y="2011680"/>
            <a:ext cx="1828800" cy="320040"/>
          </a:xfrm>
          <a:prstGeom prst="rect">
            <a:avLst/>
          </a:prstGeom>
          <a:noFill/>
          <a:ln/>
        </p:spPr>
        <p:txBody>
          <a:bodyPr wrap="square" lIns="0" tIns="0" rIns="0" bIns="0" rtlCol="0" anchor="t"/>
          <a:lstStyle/>
          <a:p>
            <a:pPr indent="0" marL="0">
              <a:buNone/>
            </a:pPr>
            <a:r>
              <a:rPr lang="en-US" sz="1600" b="1" dirty="0">
                <a:solidFill>
                  <a:schemeClr val="tx1"/>
                </a:solidFill>
              </a:rPr>
              <a:t>Extract</a:t>
            </a:r>
            <a:endParaRPr lang="en-US" sz="1600" dirty="0"/>
          </a:p>
        </p:txBody>
      </p:sp>
      <p:sp>
        <p:nvSpPr>
          <p:cNvPr id="6" name="Text 4"/>
          <p:cNvSpPr txBox="1"/>
          <p:nvPr/>
        </p:nvSpPr>
        <p:spPr>
          <a:xfrm>
            <a:off x="548640" y="2423160"/>
            <a:ext cx="1783080" cy="1188720"/>
          </a:xfrm>
          <a:prstGeom prst="rect">
            <a:avLst/>
          </a:prstGeom>
          <a:noFill/>
          <a:ln/>
        </p:spPr>
        <p:txBody>
          <a:bodyPr wrap="square" lIns="0" tIns="0" rIns="0" bIns="0" rtlCol="0" anchor="t"/>
          <a:lstStyle/>
          <a:p>
            <a:pPr indent="0" marL="0">
              <a:buNone/>
            </a:pPr>
            <a:r>
              <a:rPr lang="en-US" sz="1300" dirty="0">
                <a:solidFill>
                  <a:schemeClr val="accent5"/>
                </a:solidFill>
              </a:rPr>
              <a:t>Read the PDF; copy each test, value, unit and range exactly as printed</a:t>
            </a:r>
            <a:endParaRPr lang="en-US" sz="1300" dirty="0"/>
          </a:p>
        </p:txBody>
      </p:sp>
      <p:sp>
        <p:nvSpPr>
          <p:cNvPr id="7" name="Text 5"/>
          <p:cNvSpPr txBox="1"/>
          <p:nvPr/>
        </p:nvSpPr>
        <p:spPr>
          <a:xfrm>
            <a:off x="2606040" y="1463040"/>
            <a:ext cx="914400" cy="457200"/>
          </a:xfrm>
          <a:prstGeom prst="rect">
            <a:avLst/>
          </a:prstGeom>
          <a:noFill/>
          <a:ln/>
        </p:spPr>
        <p:txBody>
          <a:bodyPr wrap="square" lIns="0" tIns="0" rIns="0" bIns="0" rtlCol="0" anchor="t"/>
          <a:lstStyle/>
          <a:p>
            <a:pPr indent="0" marL="0">
              <a:buNone/>
            </a:pPr>
            <a:r>
              <a:rPr lang="en-US" sz="2600" b="1" dirty="0">
                <a:solidFill>
                  <a:schemeClr val="accent1"/>
                </a:solidFill>
              </a:rPr>
              <a:t>02</a:t>
            </a:r>
            <a:endParaRPr lang="en-US" sz="2600" dirty="0"/>
          </a:p>
        </p:txBody>
      </p:sp>
      <p:sp>
        <p:nvSpPr>
          <p:cNvPr id="8" name="Text 6"/>
          <p:cNvSpPr txBox="1"/>
          <p:nvPr/>
        </p:nvSpPr>
        <p:spPr>
          <a:xfrm>
            <a:off x="2606040" y="2011680"/>
            <a:ext cx="1828800" cy="320040"/>
          </a:xfrm>
          <a:prstGeom prst="rect">
            <a:avLst/>
          </a:prstGeom>
          <a:noFill/>
          <a:ln/>
        </p:spPr>
        <p:txBody>
          <a:bodyPr wrap="square" lIns="0" tIns="0" rIns="0" bIns="0" rtlCol="0" anchor="t"/>
          <a:lstStyle/>
          <a:p>
            <a:pPr indent="0" marL="0">
              <a:buNone/>
            </a:pPr>
            <a:r>
              <a:rPr lang="en-US" sz="1600" b="1" dirty="0">
                <a:solidFill>
                  <a:schemeClr val="tx1"/>
                </a:solidFill>
              </a:rPr>
              <a:t>Retrieve</a:t>
            </a:r>
            <a:endParaRPr lang="en-US" sz="1600" dirty="0"/>
          </a:p>
        </p:txBody>
      </p:sp>
      <p:sp>
        <p:nvSpPr>
          <p:cNvPr id="9" name="Text 7"/>
          <p:cNvSpPr txBox="1"/>
          <p:nvPr/>
        </p:nvSpPr>
        <p:spPr>
          <a:xfrm>
            <a:off x="2606040" y="2423160"/>
            <a:ext cx="1783080" cy="1188720"/>
          </a:xfrm>
          <a:prstGeom prst="rect">
            <a:avLst/>
          </a:prstGeom>
          <a:noFill/>
          <a:ln/>
        </p:spPr>
        <p:txBody>
          <a:bodyPr wrap="square" lIns="0" tIns="0" rIns="0" bIns="0" rtlCol="0" anchor="t"/>
          <a:lstStyle/>
          <a:p>
            <a:pPr indent="0" marL="0">
              <a:buNone/>
            </a:pPr>
            <a:r>
              <a:rPr lang="en-US" sz="1300" dirty="0">
                <a:solidFill>
                  <a:schemeClr val="accent5"/>
                </a:solidFill>
              </a:rPr>
              <a:t>Find matching MedlinePlus passages with local embeddings and ChromaDB</a:t>
            </a:r>
            <a:endParaRPr lang="en-US" sz="1300" dirty="0"/>
          </a:p>
        </p:txBody>
      </p:sp>
      <p:sp>
        <p:nvSpPr>
          <p:cNvPr id="10" name="Text 8"/>
          <p:cNvSpPr txBox="1"/>
          <p:nvPr/>
        </p:nvSpPr>
        <p:spPr>
          <a:xfrm>
            <a:off x="4663440" y="1463040"/>
            <a:ext cx="914400" cy="457200"/>
          </a:xfrm>
          <a:prstGeom prst="rect">
            <a:avLst/>
          </a:prstGeom>
          <a:noFill/>
          <a:ln/>
        </p:spPr>
        <p:txBody>
          <a:bodyPr wrap="square" lIns="0" tIns="0" rIns="0" bIns="0" rtlCol="0" anchor="t"/>
          <a:lstStyle/>
          <a:p>
            <a:pPr indent="0" marL="0">
              <a:buNone/>
            </a:pPr>
            <a:r>
              <a:rPr lang="en-US" sz="2600" b="1" dirty="0">
                <a:solidFill>
                  <a:schemeClr val="accent1"/>
                </a:solidFill>
              </a:rPr>
              <a:t>03</a:t>
            </a:r>
            <a:endParaRPr lang="en-US" sz="2600" dirty="0"/>
          </a:p>
        </p:txBody>
      </p:sp>
      <p:sp>
        <p:nvSpPr>
          <p:cNvPr id="11" name="Text 9"/>
          <p:cNvSpPr txBox="1"/>
          <p:nvPr/>
        </p:nvSpPr>
        <p:spPr>
          <a:xfrm>
            <a:off x="4663440" y="2011680"/>
            <a:ext cx="1828800" cy="320040"/>
          </a:xfrm>
          <a:prstGeom prst="rect">
            <a:avLst/>
          </a:prstGeom>
          <a:noFill/>
          <a:ln/>
        </p:spPr>
        <p:txBody>
          <a:bodyPr wrap="square" lIns="0" tIns="0" rIns="0" bIns="0" rtlCol="0" anchor="t"/>
          <a:lstStyle/>
          <a:p>
            <a:pPr indent="0" marL="0">
              <a:buNone/>
            </a:pPr>
            <a:r>
              <a:rPr lang="en-US" sz="1600" b="1" dirty="0">
                <a:solidFill>
                  <a:schemeClr val="tx1"/>
                </a:solidFill>
              </a:rPr>
              <a:t>Explain</a:t>
            </a:r>
            <a:endParaRPr lang="en-US" sz="1600" dirty="0"/>
          </a:p>
        </p:txBody>
      </p:sp>
      <p:sp>
        <p:nvSpPr>
          <p:cNvPr id="12" name="Text 10"/>
          <p:cNvSpPr txBox="1"/>
          <p:nvPr/>
        </p:nvSpPr>
        <p:spPr>
          <a:xfrm>
            <a:off x="4663440" y="2423160"/>
            <a:ext cx="1783080" cy="1188720"/>
          </a:xfrm>
          <a:prstGeom prst="rect">
            <a:avLst/>
          </a:prstGeom>
          <a:noFill/>
          <a:ln/>
        </p:spPr>
        <p:txBody>
          <a:bodyPr wrap="square" lIns="0" tIns="0" rIns="0" bIns="0" rtlCol="0" anchor="t"/>
          <a:lstStyle/>
          <a:p>
            <a:pPr indent="0" marL="0">
              <a:buNone/>
            </a:pPr>
            <a:r>
              <a:rPr lang="en-US" sz="1300" dirty="0">
                <a:solidFill>
                  <a:schemeClr val="accent5"/>
                </a:solidFill>
              </a:rPr>
              <a:t>Gemini writes a structured, cited summary from the facts and passages</a:t>
            </a:r>
            <a:endParaRPr lang="en-US" sz="1300" dirty="0"/>
          </a:p>
        </p:txBody>
      </p:sp>
      <p:sp>
        <p:nvSpPr>
          <p:cNvPr id="13" name="Text 11"/>
          <p:cNvSpPr txBox="1"/>
          <p:nvPr/>
        </p:nvSpPr>
        <p:spPr>
          <a:xfrm>
            <a:off x="6720840" y="1463040"/>
            <a:ext cx="914400" cy="457200"/>
          </a:xfrm>
          <a:prstGeom prst="rect">
            <a:avLst/>
          </a:prstGeom>
          <a:noFill/>
          <a:ln/>
        </p:spPr>
        <p:txBody>
          <a:bodyPr wrap="square" lIns="0" tIns="0" rIns="0" bIns="0" rtlCol="0" anchor="t"/>
          <a:lstStyle/>
          <a:p>
            <a:pPr indent="0" marL="0">
              <a:buNone/>
            </a:pPr>
            <a:r>
              <a:rPr lang="en-US" sz="2600" b="1" dirty="0">
                <a:solidFill>
                  <a:schemeClr val="accent1"/>
                </a:solidFill>
              </a:rPr>
              <a:t>04</a:t>
            </a:r>
            <a:endParaRPr lang="en-US" sz="2600" dirty="0"/>
          </a:p>
        </p:txBody>
      </p:sp>
      <p:sp>
        <p:nvSpPr>
          <p:cNvPr id="14" name="Text 12"/>
          <p:cNvSpPr txBox="1"/>
          <p:nvPr/>
        </p:nvSpPr>
        <p:spPr>
          <a:xfrm>
            <a:off x="6720840" y="2011680"/>
            <a:ext cx="1828800" cy="320040"/>
          </a:xfrm>
          <a:prstGeom prst="rect">
            <a:avLst/>
          </a:prstGeom>
          <a:noFill/>
          <a:ln/>
        </p:spPr>
        <p:txBody>
          <a:bodyPr wrap="square" lIns="0" tIns="0" rIns="0" bIns="0" rtlCol="0" anchor="t"/>
          <a:lstStyle/>
          <a:p>
            <a:pPr indent="0" marL="0">
              <a:buNone/>
            </a:pPr>
            <a:r>
              <a:rPr lang="en-US" sz="1600" b="1" dirty="0">
                <a:solidFill>
                  <a:schemeClr val="tx1"/>
                </a:solidFill>
              </a:rPr>
              <a:t>Check</a:t>
            </a:r>
            <a:endParaRPr lang="en-US" sz="1600" dirty="0"/>
          </a:p>
        </p:txBody>
      </p:sp>
      <p:sp>
        <p:nvSpPr>
          <p:cNvPr id="15" name="Text 13"/>
          <p:cNvSpPr txBox="1"/>
          <p:nvPr/>
        </p:nvSpPr>
        <p:spPr>
          <a:xfrm>
            <a:off x="6720840" y="2423160"/>
            <a:ext cx="1783080" cy="1188720"/>
          </a:xfrm>
          <a:prstGeom prst="rect">
            <a:avLst/>
          </a:prstGeom>
          <a:noFill/>
          <a:ln/>
        </p:spPr>
        <p:txBody>
          <a:bodyPr wrap="square" lIns="0" tIns="0" rIns="0" bIns="0" rtlCol="0" anchor="t"/>
          <a:lstStyle/>
          <a:p>
            <a:pPr indent="0" marL="0">
              <a:buNone/>
            </a:pPr>
            <a:r>
              <a:rPr lang="en-US" sz="1300" dirty="0">
                <a:solidFill>
                  <a:schemeClr val="accent5"/>
                </a:solidFill>
              </a:rPr>
              <a:t>Validate values, citations and wording before showing the summary</a:t>
            </a:r>
            <a:endParaRPr lang="en-US" sz="1300" dirty="0"/>
          </a:p>
        </p:txBody>
      </p:sp>
      <p:sp>
        <p:nvSpPr>
          <p:cNvPr id="16" name="Shape 14"/>
          <p:cNvSpPr/>
          <p:nvPr/>
        </p:nvSpPr>
        <p:spPr>
          <a:xfrm>
            <a:off x="548640" y="3840480"/>
            <a:ext cx="8046720" cy="0"/>
          </a:xfrm>
          <a:prstGeom prst="line">
            <a:avLst/>
          </a:prstGeom>
          <a:noFill/>
          <a:ln w="9525">
            <a:solidFill>
              <a:srgbClr val="D4D4D8"/>
            </a:solidFill>
            <a:prstDash val="solid"/>
          </a:ln>
        </p:spPr>
      </p:sp>
      <p:sp>
        <p:nvSpPr>
          <p:cNvPr id="17" name="Text 15"/>
          <p:cNvSpPr txBox="1"/>
          <p:nvPr/>
        </p:nvSpPr>
        <p:spPr>
          <a:xfrm>
            <a:off x="548640" y="3977640"/>
            <a:ext cx="8046720" cy="365760"/>
          </a:xfrm>
          <a:prstGeom prst="rect">
            <a:avLst/>
          </a:prstGeom>
          <a:noFill/>
          <a:ln/>
        </p:spPr>
        <p:txBody>
          <a:bodyPr wrap="square" lIns="0" tIns="0" rIns="0" bIns="0" rtlCol="0" anchor="t"/>
          <a:lstStyle/>
          <a:p>
            <a:pPr indent="0" marL="0">
              <a:buNone/>
            </a:pPr>
            <a:r>
              <a:rPr lang="en-US" sz="1200" dirty="0">
                <a:solidFill>
                  <a:schemeClr val="accent5"/>
                </a:solidFill>
              </a:rPr>
              <a:t>Next.js web app · FastAPI backend · PyMuPDF · Sentence Transformers + ChromaDB · Gemini 3.5 Flash-Lite</a:t>
            </a:r>
            <a:endParaRPr lang="en-US" sz="12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Prompt engineering</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Three prompting strategies, compared fairly</a:t>
            </a:r>
            <a:endParaRPr lang="en-US" sz="2800" dirty="0"/>
          </a:p>
        </p:txBody>
      </p:sp>
      <p:sp>
        <p:nvSpPr>
          <p:cNvPr id="4" name="Text 2"/>
          <p:cNvSpPr txBox="1"/>
          <p:nvPr/>
        </p:nvSpPr>
        <p:spPr>
          <a:xfrm>
            <a:off x="54864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Zero-shot</a:t>
            </a:r>
            <a:endParaRPr lang="en-US" sz="1500" dirty="0"/>
          </a:p>
        </p:txBody>
      </p:sp>
      <p:sp>
        <p:nvSpPr>
          <p:cNvPr id="5" name="Text 3"/>
          <p:cNvSpPr txBox="1"/>
          <p:nvPr/>
        </p:nvSpPr>
        <p:spPr>
          <a:xfrm>
            <a:off x="548640" y="1828800"/>
            <a:ext cx="2468880" cy="146304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Instructions only</a:t>
            </a:r>
            <a:endParaRPr lang="en-US" sz="1300" dirty="0"/>
          </a:p>
          <a:p>
            <a:pPr indent="0" marL="0">
              <a:spcAft>
                <a:spcPts val="700"/>
              </a:spcAft>
              <a:buNone/>
            </a:pPr>
            <a:r>
              <a:rPr lang="en-US" sz="1300" dirty="0">
                <a:solidFill>
                  <a:schemeClr val="accent5"/>
                </a:solidFill>
              </a:rPr>
              <a:t>Rules: copy values, cite sources, never diagnose</a:t>
            </a:r>
            <a:endParaRPr lang="en-US" sz="1300" dirty="0"/>
          </a:p>
        </p:txBody>
      </p:sp>
      <p:sp>
        <p:nvSpPr>
          <p:cNvPr id="6" name="Shape 4"/>
          <p:cNvSpPr/>
          <p:nvPr/>
        </p:nvSpPr>
        <p:spPr>
          <a:xfrm>
            <a:off x="3154680" y="1463040"/>
            <a:ext cx="0" cy="1737360"/>
          </a:xfrm>
          <a:prstGeom prst="line">
            <a:avLst/>
          </a:prstGeom>
          <a:noFill/>
          <a:ln w="9525">
            <a:solidFill>
              <a:srgbClr val="D4D4D8"/>
            </a:solidFill>
            <a:prstDash val="solid"/>
          </a:ln>
        </p:spPr>
      </p:sp>
      <p:sp>
        <p:nvSpPr>
          <p:cNvPr id="7" name="Text 5"/>
          <p:cNvSpPr txBox="1"/>
          <p:nvPr/>
        </p:nvSpPr>
        <p:spPr>
          <a:xfrm>
            <a:off x="333756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Few-shot</a:t>
            </a:r>
            <a:endParaRPr lang="en-US" sz="1500" dirty="0"/>
          </a:p>
        </p:txBody>
      </p:sp>
      <p:sp>
        <p:nvSpPr>
          <p:cNvPr id="8" name="Text 6"/>
          <p:cNvSpPr txBox="1"/>
          <p:nvPr/>
        </p:nvSpPr>
        <p:spPr>
          <a:xfrm>
            <a:off x="3337560" y="1828800"/>
            <a:ext cx="2468880" cy="146304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Instructions</a:t>
            </a:r>
            <a:endParaRPr lang="en-US" sz="1300" dirty="0"/>
          </a:p>
          <a:p>
            <a:pPr indent="0" marL="0">
              <a:spcAft>
                <a:spcPts val="700"/>
              </a:spcAft>
              <a:buNone/>
            </a:pPr>
            <a:r>
              <a:rPr lang="en-US" sz="1300" dirty="0">
                <a:solidFill>
                  <a:schemeClr val="accent5"/>
                </a:solidFill>
              </a:rPr>
              <a:t>+ two reviewed example answers</a:t>
            </a:r>
            <a:endParaRPr lang="en-US" sz="1300" dirty="0"/>
          </a:p>
        </p:txBody>
      </p:sp>
      <p:sp>
        <p:nvSpPr>
          <p:cNvPr id="9" name="Shape 7"/>
          <p:cNvSpPr/>
          <p:nvPr/>
        </p:nvSpPr>
        <p:spPr>
          <a:xfrm>
            <a:off x="5943600" y="1463040"/>
            <a:ext cx="0" cy="1737360"/>
          </a:xfrm>
          <a:prstGeom prst="line">
            <a:avLst/>
          </a:prstGeom>
          <a:noFill/>
          <a:ln w="9525">
            <a:solidFill>
              <a:srgbClr val="D4D4D8"/>
            </a:solidFill>
            <a:prstDash val="solid"/>
          </a:ln>
        </p:spPr>
      </p:sp>
      <p:sp>
        <p:nvSpPr>
          <p:cNvPr id="10" name="Text 8"/>
          <p:cNvSpPr txBox="1"/>
          <p:nvPr/>
        </p:nvSpPr>
        <p:spPr>
          <a:xfrm>
            <a:off x="6126480" y="1417320"/>
            <a:ext cx="2468880" cy="320040"/>
          </a:xfrm>
          <a:prstGeom prst="rect">
            <a:avLst/>
          </a:prstGeom>
          <a:noFill/>
          <a:ln/>
        </p:spPr>
        <p:txBody>
          <a:bodyPr wrap="square" lIns="0" tIns="0" rIns="0" bIns="0" rtlCol="0" anchor="t"/>
          <a:lstStyle/>
          <a:p>
            <a:pPr indent="0" marL="0">
              <a:buNone/>
            </a:pPr>
            <a:r>
              <a:rPr lang="en-US" sz="1500" b="1" dirty="0">
                <a:solidFill>
                  <a:schemeClr val="accent1"/>
                </a:solidFill>
              </a:rPr>
              <a:t>RAG-enhanced</a:t>
            </a:r>
            <a:endParaRPr lang="en-US" sz="1500" dirty="0"/>
          </a:p>
        </p:txBody>
      </p:sp>
      <p:sp>
        <p:nvSpPr>
          <p:cNvPr id="11" name="Text 9"/>
          <p:cNvSpPr txBox="1"/>
          <p:nvPr/>
        </p:nvSpPr>
        <p:spPr>
          <a:xfrm>
            <a:off x="6126480" y="1828800"/>
            <a:ext cx="2468880" cy="146304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Instructions and examples</a:t>
            </a:r>
            <a:endParaRPr lang="en-US" sz="1300" dirty="0"/>
          </a:p>
          <a:p>
            <a:pPr indent="0" marL="0">
              <a:spcAft>
                <a:spcPts val="700"/>
              </a:spcAft>
              <a:buNone/>
            </a:pPr>
            <a:r>
              <a:rPr lang="en-US" sz="1300" dirty="0">
                <a:solidFill>
                  <a:schemeClr val="accent5"/>
                </a:solidFill>
              </a:rPr>
              <a:t>+ retrieved MedlinePlus passages to cite</a:t>
            </a:r>
            <a:endParaRPr lang="en-US" sz="1300" dirty="0"/>
          </a:p>
        </p:txBody>
      </p:sp>
      <p:sp>
        <p:nvSpPr>
          <p:cNvPr id="12" name="Shape 10"/>
          <p:cNvSpPr/>
          <p:nvPr/>
        </p:nvSpPr>
        <p:spPr>
          <a:xfrm>
            <a:off x="548640" y="3611880"/>
            <a:ext cx="8046720" cy="0"/>
          </a:xfrm>
          <a:prstGeom prst="line">
            <a:avLst/>
          </a:prstGeom>
          <a:noFill/>
          <a:ln w="9525">
            <a:solidFill>
              <a:srgbClr val="D4D4D8"/>
            </a:solidFill>
            <a:prstDash val="solid"/>
          </a:ln>
        </p:spPr>
      </p:sp>
      <p:sp>
        <p:nvSpPr>
          <p:cNvPr id="13" name="Text 11"/>
          <p:cNvSpPr txBox="1"/>
          <p:nvPr/>
        </p:nvSpPr>
        <p:spPr>
          <a:xfrm>
            <a:off x="548640" y="3749040"/>
            <a:ext cx="8046720" cy="640080"/>
          </a:xfrm>
          <a:prstGeom prst="rect">
            <a:avLst/>
          </a:prstGeom>
          <a:noFill/>
          <a:ln/>
        </p:spPr>
        <p:txBody>
          <a:bodyPr wrap="square" lIns="0" tIns="0" rIns="0" bIns="0" rtlCol="0" anchor="t"/>
          <a:lstStyle/>
          <a:p>
            <a:pPr indent="0" marL="0">
              <a:buNone/>
            </a:pPr>
            <a:r>
              <a:rPr lang="en-US" sz="1500" dirty="0">
                <a:solidFill>
                  <a:schemeClr val="tx1"/>
                </a:solidFill>
              </a:rPr>
              <a:t>Same report facts, JSON schema, model and settings (temperature 0.2, seed 42), so only the prompt changes.</a:t>
            </a:r>
            <a:endParaRPr lang="en-US" sz="15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Safety validation</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Every summary is checked before it is shown</a:t>
            </a:r>
            <a:endParaRPr lang="en-US" sz="2800" dirty="0"/>
          </a:p>
        </p:txBody>
      </p:sp>
      <p:sp>
        <p:nvSpPr>
          <p:cNvPr id="4" name="Text 2"/>
          <p:cNvSpPr txBox="1"/>
          <p:nvPr/>
        </p:nvSpPr>
        <p:spPr>
          <a:xfrm>
            <a:off x="548640" y="141732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Values</a:t>
            </a:r>
            <a:endParaRPr lang="en-US" sz="1400" dirty="0"/>
          </a:p>
        </p:txBody>
      </p:sp>
      <p:sp>
        <p:nvSpPr>
          <p:cNvPr id="5" name="Text 3"/>
          <p:cNvSpPr txBox="1"/>
          <p:nvPr/>
        </p:nvSpPr>
        <p:spPr>
          <a:xfrm>
            <a:off x="2240280" y="141732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Value, unit and range copied exactly; no invented tests</a:t>
            </a:r>
            <a:endParaRPr lang="en-US" sz="1300" dirty="0"/>
          </a:p>
        </p:txBody>
      </p:sp>
      <p:sp>
        <p:nvSpPr>
          <p:cNvPr id="6" name="Text 4"/>
          <p:cNvSpPr txBox="1"/>
          <p:nvPr/>
        </p:nvSpPr>
        <p:spPr>
          <a:xfrm>
            <a:off x="548640" y="196596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Citations</a:t>
            </a:r>
            <a:endParaRPr lang="en-US" sz="1400" dirty="0"/>
          </a:p>
        </p:txBody>
      </p:sp>
      <p:sp>
        <p:nvSpPr>
          <p:cNvPr id="7" name="Text 5"/>
          <p:cNvSpPr txBox="1"/>
          <p:nvPr/>
        </p:nvSpPr>
        <p:spPr>
          <a:xfrm>
            <a:off x="2240280" y="196596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Every cited passage was actually retrieved</a:t>
            </a:r>
            <a:endParaRPr lang="en-US" sz="1300" dirty="0"/>
          </a:p>
        </p:txBody>
      </p:sp>
      <p:sp>
        <p:nvSpPr>
          <p:cNvPr id="8" name="Text 6"/>
          <p:cNvSpPr txBox="1"/>
          <p:nvPr/>
        </p:nvSpPr>
        <p:spPr>
          <a:xfrm>
            <a:off x="548640" y="251460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Abnormal results</a:t>
            </a:r>
            <a:endParaRPr lang="en-US" sz="1400" dirty="0"/>
          </a:p>
        </p:txBody>
      </p:sp>
      <p:sp>
        <p:nvSpPr>
          <p:cNvPr id="9" name="Text 7"/>
          <p:cNvSpPr txBox="1"/>
          <p:nvPr/>
        </p:nvSpPr>
        <p:spPr>
          <a:xfrm>
            <a:off x="2240280" y="251460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Listed only if flagged or outside the printed range</a:t>
            </a:r>
            <a:endParaRPr lang="en-US" sz="1300" dirty="0"/>
          </a:p>
        </p:txBody>
      </p:sp>
      <p:sp>
        <p:nvSpPr>
          <p:cNvPr id="10" name="Text 8"/>
          <p:cNvSpPr txBox="1"/>
          <p:nvPr/>
        </p:nvSpPr>
        <p:spPr>
          <a:xfrm>
            <a:off x="548640" y="306324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Language</a:t>
            </a:r>
            <a:endParaRPr lang="en-US" sz="1400" dirty="0"/>
          </a:p>
        </p:txBody>
      </p:sp>
      <p:sp>
        <p:nvSpPr>
          <p:cNvPr id="11" name="Text 9"/>
          <p:cNvSpPr txBox="1"/>
          <p:nvPr/>
        </p:nvSpPr>
        <p:spPr>
          <a:xfrm>
            <a:off x="2240280" y="306324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No diagnosis, treatment advice or false reassurance</a:t>
            </a:r>
            <a:endParaRPr lang="en-US" sz="1300" dirty="0"/>
          </a:p>
        </p:txBody>
      </p:sp>
      <p:sp>
        <p:nvSpPr>
          <p:cNvPr id="12" name="Text 10"/>
          <p:cNvSpPr txBox="1"/>
          <p:nvPr/>
        </p:nvSpPr>
        <p:spPr>
          <a:xfrm>
            <a:off x="548640" y="361188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Privacy</a:t>
            </a:r>
            <a:endParaRPr lang="en-US" sz="1400" dirty="0"/>
          </a:p>
        </p:txBody>
      </p:sp>
      <p:sp>
        <p:nvSpPr>
          <p:cNvPr id="13" name="Text 11"/>
          <p:cNvSpPr txBox="1"/>
          <p:nvPr/>
        </p:nvSpPr>
        <p:spPr>
          <a:xfrm>
            <a:off x="2240280" y="361188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Only test results reach the model, never report text</a:t>
            </a:r>
            <a:endParaRPr lang="en-US" sz="1300" dirty="0"/>
          </a:p>
        </p:txBody>
      </p:sp>
      <p:sp>
        <p:nvSpPr>
          <p:cNvPr id="14" name="Shape 12"/>
          <p:cNvSpPr/>
          <p:nvPr/>
        </p:nvSpPr>
        <p:spPr>
          <a:xfrm>
            <a:off x="5623560" y="1463040"/>
            <a:ext cx="0" cy="2606040"/>
          </a:xfrm>
          <a:prstGeom prst="line">
            <a:avLst/>
          </a:prstGeom>
          <a:noFill/>
          <a:ln w="9525">
            <a:solidFill>
              <a:srgbClr val="D4D4D8"/>
            </a:solidFill>
            <a:prstDash val="solid"/>
          </a:ln>
        </p:spPr>
      </p:sp>
      <p:sp>
        <p:nvSpPr>
          <p:cNvPr id="15" name="Text 13"/>
          <p:cNvSpPr txBox="1"/>
          <p:nvPr/>
        </p:nvSpPr>
        <p:spPr>
          <a:xfrm>
            <a:off x="5943600" y="137160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57 / 60</a:t>
            </a:r>
            <a:endParaRPr lang="en-US" sz="3000" dirty="0"/>
          </a:p>
        </p:txBody>
      </p:sp>
      <p:sp>
        <p:nvSpPr>
          <p:cNvPr id="16" name="Text 14"/>
          <p:cNvSpPr txBox="1"/>
          <p:nvPr/>
        </p:nvSpPr>
        <p:spPr>
          <a:xfrm>
            <a:off x="5943600" y="193852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reworded unsafe sentences caught on a held-out set (was 3)</a:t>
            </a:r>
            <a:endParaRPr lang="en-US" sz="1200" dirty="0"/>
          </a:p>
        </p:txBody>
      </p:sp>
      <p:sp>
        <p:nvSpPr>
          <p:cNvPr id="17" name="Text 15"/>
          <p:cNvSpPr txBox="1"/>
          <p:nvPr/>
        </p:nvSpPr>
        <p:spPr>
          <a:xfrm>
            <a:off x="5943600" y="251460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1 / 30</a:t>
            </a:r>
            <a:endParaRPr lang="en-US" sz="3000" dirty="0"/>
          </a:p>
        </p:txBody>
      </p:sp>
      <p:sp>
        <p:nvSpPr>
          <p:cNvPr id="18" name="Text 16"/>
          <p:cNvSpPr txBox="1"/>
          <p:nvPr/>
        </p:nvSpPr>
        <p:spPr>
          <a:xfrm>
            <a:off x="5943600" y="308152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safe sentences wrongly flagged</a:t>
            </a:r>
            <a:endParaRPr lang="en-US" sz="1200" dirty="0"/>
          </a:p>
        </p:txBody>
      </p:sp>
      <p:sp>
        <p:nvSpPr>
          <p:cNvPr id="19" name="Text 17"/>
          <p:cNvSpPr txBox="1"/>
          <p:nvPr/>
        </p:nvSpPr>
        <p:spPr>
          <a:xfrm>
            <a:off x="5943600" y="3520440"/>
            <a:ext cx="2560320" cy="548640"/>
          </a:xfrm>
          <a:prstGeom prst="rect">
            <a:avLst/>
          </a:prstGeom>
          <a:noFill/>
          <a:ln/>
        </p:spPr>
        <p:txBody>
          <a:bodyPr wrap="square" lIns="0" tIns="0" rIns="0" bIns="0" rtlCol="0" anchor="t"/>
          <a:lstStyle/>
          <a:p>
            <a:pPr indent="0" marL="0">
              <a:buNone/>
            </a:pPr>
            <a:r>
              <a:rPr lang="en-US" sz="3000" b="1" dirty="0">
                <a:solidFill>
                  <a:schemeClr val="tx1"/>
                </a:solidFill>
              </a:rPr>
              <a:t>Hidden</a:t>
            </a:r>
            <a:endParaRPr lang="en-US" sz="3000" dirty="0"/>
          </a:p>
        </p:txBody>
      </p:sp>
      <p:sp>
        <p:nvSpPr>
          <p:cNvPr id="20" name="Text 18"/>
          <p:cNvSpPr txBox="1"/>
          <p:nvPr/>
        </p:nvSpPr>
        <p:spPr>
          <a:xfrm>
            <a:off x="5943600" y="408736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a summary that fails is not shown as-is</a:t>
            </a:r>
            <a:endParaRPr lang="en-US" sz="12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Evaluation · 9 synthetic reports × 3 strategies</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Live results with Gemini</a:t>
            </a:r>
            <a:endParaRPr lang="en-US" sz="2800" dirty="0"/>
          </a:p>
        </p:txBody>
      </p:sp>
      <p:graphicFrame>
        <p:nvGraphicFramePr>
          <p:cNvPr id="4" name="Chart 0" descr=""/>
          <p:cNvGraphicFramePr/>
          <p:nvPr/>
        </p:nvGraphicFramePr>
        <p:xfrm>
          <a:off x="411480" y="128016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371600"/>
            <a:ext cx="0" cy="3108960"/>
          </a:xfrm>
          <a:prstGeom prst="line">
            <a:avLst/>
          </a:prstGeom>
          <a:noFill/>
          <a:ln w="9525">
            <a:solidFill>
              <a:srgbClr val="D4D4D8"/>
            </a:solidFill>
            <a:prstDash val="solid"/>
          </a:ln>
        </p:spPr>
      </p:sp>
      <p:sp>
        <p:nvSpPr>
          <p:cNvPr id="6" name="Text 3"/>
          <p:cNvSpPr txBox="1"/>
          <p:nvPr/>
        </p:nvSpPr>
        <p:spPr>
          <a:xfrm>
            <a:off x="6035040" y="132588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100%</a:t>
            </a:r>
            <a:endParaRPr lang="en-US" sz="3000" dirty="0"/>
          </a:p>
        </p:txBody>
      </p:sp>
      <p:sp>
        <p:nvSpPr>
          <p:cNvPr id="7" name="Text 4"/>
          <p:cNvSpPr txBox="1"/>
          <p:nvPr/>
        </p:nvSpPr>
        <p:spPr>
          <a:xfrm>
            <a:off x="6035040" y="189280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values, units and ranges copied exactly by every strategy</a:t>
            </a:r>
            <a:endParaRPr lang="en-US" sz="1200" dirty="0"/>
          </a:p>
        </p:txBody>
      </p:sp>
      <p:sp>
        <p:nvSpPr>
          <p:cNvPr id="8" name="Text 5"/>
          <p:cNvSpPr txBox="1"/>
          <p:nvPr/>
        </p:nvSpPr>
        <p:spPr>
          <a:xfrm>
            <a:off x="6035040" y="237744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1.0 → 0</a:t>
            </a:r>
            <a:endParaRPr lang="en-US" sz="3000" dirty="0"/>
          </a:p>
        </p:txBody>
      </p:sp>
      <p:sp>
        <p:nvSpPr>
          <p:cNvPr id="9" name="Text 6"/>
          <p:cNvSpPr txBox="1"/>
          <p:nvPr/>
        </p:nvSpPr>
        <p:spPr>
          <a:xfrm>
            <a:off x="6035040" y="294436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unsourced background sentences per test, zero-shot vs RAG</a:t>
            </a:r>
            <a:endParaRPr lang="en-US" sz="1200" dirty="0"/>
          </a:p>
        </p:txBody>
      </p:sp>
      <p:sp>
        <p:nvSpPr>
          <p:cNvPr id="10" name="Text 7"/>
          <p:cNvSpPr txBox="1"/>
          <p:nvPr/>
        </p:nvSpPr>
        <p:spPr>
          <a:xfrm>
            <a:off x="6035040" y="342900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95%</a:t>
            </a:r>
            <a:endParaRPr lang="en-US" sz="3000" dirty="0"/>
          </a:p>
        </p:txBody>
      </p:sp>
      <p:sp>
        <p:nvSpPr>
          <p:cNvPr id="11" name="Text 8"/>
          <p:cNvSpPr txBox="1"/>
          <p:nvPr/>
        </p:nvSpPr>
        <p:spPr>
          <a:xfrm>
            <a:off x="6035040" y="399592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of RAG citations point to the right reference page</a:t>
            </a:r>
            <a:endParaRPr lang="en-US" sz="12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Evaluation · strategy comparison</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Zero-shot vs few-shot vs RAG</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3108960"/>
                <a:gridCol w="1645920"/>
                <a:gridCol w="1645920"/>
                <a:gridCol w="1645920"/>
              </a:tblGrid>
              <a:tr h="329184">
                <a:tc>
                  <a:txBody>
                    <a:bodyPr/>
                    <a:lstStyle/>
                    <a:p>
                      <a:pPr algn="l"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b="1" dirty="0">
                          <a:solidFill>
                            <a:schemeClr val="tx1"/>
                          </a:solidFill>
                        </a:rPr>
                        <a:t>Zero-shot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b="1" dirty="0">
                          <a:solidFill>
                            <a:schemeClr val="tx1"/>
                          </a:solidFill>
                        </a:rPr>
                        <a:t>Few-shot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b="1" dirty="0">
                          <a:solidFill>
                            <a:schemeClr val="accent1"/>
                          </a:solidFill>
                        </a:rPr>
                        <a:t>RAG-enhanced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Checks: passed / warnings / failed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0 / 9 / 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9 / 0 / 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4 / 5 / 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Values, units and ranges kept exact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Abnormal results found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19 of 19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19 of 19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18 of 19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Explains what each test measures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34 of 34, no source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0 of 34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30 of 34, cited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Citations valid / on the right page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100% / 95%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Unsafe wording (diagnosis, advice)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Reading grade level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9.1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3.5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6.9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r h="329184">
                <a:tc>
                  <a:txBody>
                    <a:bodyPr/>
                    <a:lstStyle/>
                    <a:p>
                      <a:pPr algn="l" indent="0" marL="0">
                        <a:buNone/>
                      </a:pPr>
                      <a:r>
                        <a:rPr lang="en-US" sz="1200" dirty="0">
                          <a:solidFill>
                            <a:schemeClr val="accent5"/>
                          </a:solidFill>
                        </a:rPr>
                        <a:t>Average time · prompt tokens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12.6 s · 925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9.0 s · 2,428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c>
                  <a:txBody>
                    <a:bodyPr/>
                    <a:lstStyle/>
                    <a:p>
                      <a:pPr algn="ctr" indent="0" marL="0">
                        <a:buNone/>
                      </a:pPr>
                      <a:r>
                        <a:rPr lang="en-US" sz="1200" dirty="0">
                          <a:solidFill>
                            <a:schemeClr val="tx1"/>
                          </a:solidFill>
                        </a:rPr>
                        <a:t>12.6 s · 4,702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4D4D8"/>
                      </a:solidFill>
                      <a:prstDash val="solid"/>
                      <a:round/>
                      <a:headEnd type="none" w="med" len="med"/>
                      <a:tailEnd type="none" w="med" len="med"/>
                    </a:lnB>
                  </a:tcPr>
                </a:tc>
              </a:tr>
            </a:tbl>
          </a:graphicData>
        </a:graphic>
      </p:graphicFrame>
      <p:sp>
        <p:nvSpPr>
          <p:cNvPr id="5" name="Text 2"/>
          <p:cNvSpPr txBox="1"/>
          <p:nvPr/>
        </p:nvSpPr>
        <p:spPr>
          <a:xfrm>
            <a:off x="548640" y="4434840"/>
            <a:ext cx="7589520" cy="228600"/>
          </a:xfrm>
          <a:prstGeom prst="rect">
            <a:avLst/>
          </a:prstGeom>
          <a:noFill/>
          <a:ln/>
        </p:spPr>
        <p:txBody>
          <a:bodyPr wrap="square" lIns="0" tIns="0" rIns="0" bIns="0" rtlCol="0" anchor="t"/>
          <a:lstStyle/>
          <a:p>
            <a:pPr indent="0" marL="0">
              <a:buNone/>
            </a:pPr>
            <a:r>
              <a:rPr lang="en-US" sz="1000" dirty="0">
                <a:solidFill>
                  <a:schemeClr val="accent5"/>
                </a:solidFill>
              </a:rPr>
              <a:t>9 synthetic reports · 34 test explanations per strategy · gemini-3.5-flash-lite, temperature 0.2, seed 42 · one run</a:t>
            </a:r>
            <a:endParaRPr lang="en-US" sz="10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Evaluation · findings</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What the comparison shows</a:t>
            </a:r>
            <a:endParaRPr lang="en-US" sz="2800" dirty="0"/>
          </a:p>
        </p:txBody>
      </p:sp>
      <p:sp>
        <p:nvSpPr>
          <p:cNvPr id="4" name="Text 2"/>
          <p:cNvSpPr txBox="1"/>
          <p:nvPr/>
        </p:nvSpPr>
        <p:spPr>
          <a:xfrm>
            <a:off x="54864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Zero-shot: unsourced</a:t>
            </a:r>
            <a:endParaRPr lang="en-US" sz="1500" dirty="0"/>
          </a:p>
        </p:txBody>
      </p:sp>
      <p:sp>
        <p:nvSpPr>
          <p:cNvPr id="5" name="Text 3"/>
          <p:cNvSpPr txBox="1"/>
          <p:nvPr/>
        </p:nvSpPr>
        <p:spPr>
          <a:xfrm>
            <a:off x="548640" y="1828800"/>
            <a:ext cx="2468880" cy="173736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Added background to all 34 explanations despite being told not to</a:t>
            </a:r>
            <a:endParaRPr lang="en-US" sz="1300" dirty="0"/>
          </a:p>
          <a:p>
            <a:pPr indent="0" marL="0">
              <a:spcAft>
                <a:spcPts val="700"/>
              </a:spcAft>
              <a:buNone/>
            </a:pPr>
            <a:r>
              <a:rPr lang="en-US" sz="1300" dirty="0">
                <a:solidFill>
                  <a:schemeClr val="accent5"/>
                </a:solidFill>
              </a:rPr>
              <a:t>None of it cited; hardest to read (grade 9.1)</a:t>
            </a:r>
            <a:endParaRPr lang="en-US" sz="1300" dirty="0"/>
          </a:p>
        </p:txBody>
      </p:sp>
      <p:sp>
        <p:nvSpPr>
          <p:cNvPr id="6" name="Shape 4"/>
          <p:cNvSpPr/>
          <p:nvPr/>
        </p:nvSpPr>
        <p:spPr>
          <a:xfrm>
            <a:off x="3154680" y="1463040"/>
            <a:ext cx="0" cy="1920240"/>
          </a:xfrm>
          <a:prstGeom prst="line">
            <a:avLst/>
          </a:prstGeom>
          <a:noFill/>
          <a:ln w="9525">
            <a:solidFill>
              <a:srgbClr val="D4D4D8"/>
            </a:solidFill>
            <a:prstDash val="solid"/>
          </a:ln>
        </p:spPr>
      </p:sp>
      <p:sp>
        <p:nvSpPr>
          <p:cNvPr id="7" name="Text 5"/>
          <p:cNvSpPr txBox="1"/>
          <p:nvPr/>
        </p:nvSpPr>
        <p:spPr>
          <a:xfrm>
            <a:off x="333756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Few-shot: safe but thin</a:t>
            </a:r>
            <a:endParaRPr lang="en-US" sz="1500" dirty="0"/>
          </a:p>
        </p:txBody>
      </p:sp>
      <p:sp>
        <p:nvSpPr>
          <p:cNvPr id="8" name="Text 6"/>
          <p:cNvSpPr txBox="1"/>
          <p:nvPr/>
        </p:nvSpPr>
        <p:spPr>
          <a:xfrm>
            <a:off x="3337560" y="1828800"/>
            <a:ext cx="2468880" cy="173736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Passed every check by copying the examples' style</a:t>
            </a:r>
            <a:endParaRPr lang="en-US" sz="1300" dirty="0"/>
          </a:p>
          <a:p>
            <a:pPr indent="0" marL="0">
              <a:spcAft>
                <a:spcPts val="700"/>
              </a:spcAft>
              <a:buNone/>
            </a:pPr>
            <a:r>
              <a:rPr lang="en-US" sz="1300" dirty="0">
                <a:solidFill>
                  <a:schemeClr val="accent5"/>
                </a:solidFill>
              </a:rPr>
              <a:t>Restates values; explains no test</a:t>
            </a:r>
            <a:endParaRPr lang="en-US" sz="1300" dirty="0"/>
          </a:p>
        </p:txBody>
      </p:sp>
      <p:sp>
        <p:nvSpPr>
          <p:cNvPr id="9" name="Shape 7"/>
          <p:cNvSpPr/>
          <p:nvPr/>
        </p:nvSpPr>
        <p:spPr>
          <a:xfrm>
            <a:off x="5943600" y="1463040"/>
            <a:ext cx="0" cy="1920240"/>
          </a:xfrm>
          <a:prstGeom prst="line">
            <a:avLst/>
          </a:prstGeom>
          <a:noFill/>
          <a:ln w="9525">
            <a:solidFill>
              <a:srgbClr val="D4D4D8"/>
            </a:solidFill>
            <a:prstDash val="solid"/>
          </a:ln>
        </p:spPr>
      </p:sp>
      <p:sp>
        <p:nvSpPr>
          <p:cNvPr id="10" name="Text 8"/>
          <p:cNvSpPr txBox="1"/>
          <p:nvPr/>
        </p:nvSpPr>
        <p:spPr>
          <a:xfrm>
            <a:off x="6126480" y="1417320"/>
            <a:ext cx="2468880" cy="320040"/>
          </a:xfrm>
          <a:prstGeom prst="rect">
            <a:avLst/>
          </a:prstGeom>
          <a:noFill/>
          <a:ln/>
        </p:spPr>
        <p:txBody>
          <a:bodyPr wrap="square" lIns="0" tIns="0" rIns="0" bIns="0" rtlCol="0" anchor="t"/>
          <a:lstStyle/>
          <a:p>
            <a:pPr indent="0" marL="0">
              <a:buNone/>
            </a:pPr>
            <a:r>
              <a:rPr lang="en-US" sz="1500" b="1" dirty="0">
                <a:solidFill>
                  <a:schemeClr val="accent1"/>
                </a:solidFill>
              </a:rPr>
              <a:t>RAG: most useful</a:t>
            </a:r>
            <a:endParaRPr lang="en-US" sz="1500" dirty="0"/>
          </a:p>
        </p:txBody>
      </p:sp>
      <p:sp>
        <p:nvSpPr>
          <p:cNvPr id="11" name="Text 9"/>
          <p:cNvSpPr txBox="1"/>
          <p:nvPr/>
        </p:nvSpPr>
        <p:spPr>
          <a:xfrm>
            <a:off x="6126480" y="1828800"/>
            <a:ext cx="2468880" cy="1737360"/>
          </a:xfrm>
          <a:prstGeom prst="rect">
            <a:avLst/>
          </a:prstGeom>
          <a:noFill/>
          <a:ln/>
        </p:spPr>
        <p:txBody>
          <a:bodyPr wrap="square" lIns="0" tIns="0" rIns="0" bIns="0" rtlCol="0" anchor="t"/>
          <a:lstStyle/>
          <a:p>
            <a:pPr indent="0" marL="0">
              <a:spcAft>
                <a:spcPts val="700"/>
              </a:spcAft>
              <a:buNone/>
            </a:pPr>
            <a:r>
              <a:rPr lang="en-US" sz="1300" dirty="0">
                <a:solidFill>
                  <a:schemeClr val="accent5"/>
                </a:solidFill>
              </a:rPr>
              <a:t>Explained 30 of 34 tests with MedlinePlus citations</a:t>
            </a:r>
            <a:endParaRPr lang="en-US" sz="1300" dirty="0"/>
          </a:p>
          <a:p>
            <a:pPr indent="0" marL="0">
              <a:spcAft>
                <a:spcPts val="700"/>
              </a:spcAft>
              <a:buNone/>
            </a:pPr>
            <a:r>
              <a:rPr lang="en-US" sz="1300" dirty="0">
                <a:solidFill>
                  <a:schemeClr val="accent5"/>
                </a:solidFill>
              </a:rPr>
              <a:t>95% on the right page; missed 1 of 19 abnormal results</a:t>
            </a:r>
            <a:endParaRPr lang="en-US" sz="1300" dirty="0"/>
          </a:p>
        </p:txBody>
      </p:sp>
      <p:sp>
        <p:nvSpPr>
          <p:cNvPr id="12" name="Shape 10"/>
          <p:cNvSpPr/>
          <p:nvPr/>
        </p:nvSpPr>
        <p:spPr>
          <a:xfrm>
            <a:off x="548640" y="3703320"/>
            <a:ext cx="8046720" cy="0"/>
          </a:xfrm>
          <a:prstGeom prst="line">
            <a:avLst/>
          </a:prstGeom>
          <a:noFill/>
          <a:ln w="9525">
            <a:solidFill>
              <a:srgbClr val="D4D4D8"/>
            </a:solidFill>
            <a:prstDash val="solid"/>
          </a:ln>
        </p:spPr>
      </p:sp>
      <p:sp>
        <p:nvSpPr>
          <p:cNvPr id="13" name="Text 11"/>
          <p:cNvSpPr txBox="1"/>
          <p:nvPr/>
        </p:nvSpPr>
        <p:spPr>
          <a:xfrm>
            <a:off x="548640" y="3840480"/>
            <a:ext cx="8046720" cy="640080"/>
          </a:xfrm>
          <a:prstGeom prst="rect">
            <a:avLst/>
          </a:prstGeom>
          <a:noFill/>
          <a:ln/>
        </p:spPr>
        <p:txBody>
          <a:bodyPr wrap="square" lIns="0" tIns="0" rIns="0" bIns="0" rtlCol="0" anchor="t"/>
          <a:lstStyle/>
          <a:p>
            <a:pPr indent="0" marL="0">
              <a:buNone/>
            </a:pPr>
            <a:r>
              <a:rPr lang="en-US" sz="1400" b="1" dirty="0">
                <a:solidFill>
                  <a:schemeClr val="accent1"/>
                </a:solidFill>
              </a:rPr>
              <a:t>Conclusion  </a:t>
            </a:r>
            <a:pPr indent="0" marL="0">
              <a:buNone/>
            </a:pPr>
            <a:r>
              <a:rPr lang="en-US" sz="1400" dirty="0">
                <a:solidFill>
                  <a:schemeClr val="tx1"/>
                </a:solidFill>
              </a:rPr>
              <a:t>RAG gives the most informative summaries with verifiable sources, at about 5× the prompt tokens of zero-shot. One run on nine reports: descriptive, not significant.</a:t>
            </a:r>
            <a:endParaRPr lang="en-US" sz="14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Implementation</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Built and tested</a:t>
            </a:r>
            <a:endParaRPr lang="en-US" sz="2800" dirty="0"/>
          </a:p>
        </p:txBody>
      </p:sp>
      <p:sp>
        <p:nvSpPr>
          <p:cNvPr id="4" name="Text 2"/>
          <p:cNvSpPr txBox="1"/>
          <p:nvPr/>
        </p:nvSpPr>
        <p:spPr>
          <a:xfrm>
            <a:off x="548640" y="141732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Frontend</a:t>
            </a:r>
            <a:endParaRPr lang="en-US" sz="1400" dirty="0"/>
          </a:p>
        </p:txBody>
      </p:sp>
      <p:sp>
        <p:nvSpPr>
          <p:cNvPr id="5" name="Text 3"/>
          <p:cNvSpPr txBox="1"/>
          <p:nvPr/>
        </p:nvSpPr>
        <p:spPr>
          <a:xfrm>
            <a:off x="2240280" y="141732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Next.js, TypeScript, Tailwind CSS</a:t>
            </a:r>
            <a:endParaRPr lang="en-US" sz="1300" dirty="0"/>
          </a:p>
        </p:txBody>
      </p:sp>
      <p:sp>
        <p:nvSpPr>
          <p:cNvPr id="6" name="Text 4"/>
          <p:cNvSpPr txBox="1"/>
          <p:nvPr/>
        </p:nvSpPr>
        <p:spPr>
          <a:xfrm>
            <a:off x="548640" y="196596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Backend</a:t>
            </a:r>
            <a:endParaRPr lang="en-US" sz="1400" dirty="0"/>
          </a:p>
        </p:txBody>
      </p:sp>
      <p:sp>
        <p:nvSpPr>
          <p:cNvPr id="7" name="Text 5"/>
          <p:cNvSpPr txBox="1"/>
          <p:nvPr/>
        </p:nvSpPr>
        <p:spPr>
          <a:xfrm>
            <a:off x="2240280" y="196596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FastAPI, Pydantic, PyMuPDF</a:t>
            </a:r>
            <a:endParaRPr lang="en-US" sz="1300" dirty="0"/>
          </a:p>
        </p:txBody>
      </p:sp>
      <p:sp>
        <p:nvSpPr>
          <p:cNvPr id="8" name="Text 6"/>
          <p:cNvSpPr txBox="1"/>
          <p:nvPr/>
        </p:nvSpPr>
        <p:spPr>
          <a:xfrm>
            <a:off x="548640" y="251460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Retrieval</a:t>
            </a:r>
            <a:endParaRPr lang="en-US" sz="1400" dirty="0"/>
          </a:p>
        </p:txBody>
      </p:sp>
      <p:sp>
        <p:nvSpPr>
          <p:cNvPr id="9" name="Text 7"/>
          <p:cNvSpPr txBox="1"/>
          <p:nvPr/>
        </p:nvSpPr>
        <p:spPr>
          <a:xfrm>
            <a:off x="2240280" y="251460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Sentence Transformers, ChromaDB, 20 MedlinePlus pages</a:t>
            </a:r>
            <a:endParaRPr lang="en-US" sz="1300" dirty="0"/>
          </a:p>
        </p:txBody>
      </p:sp>
      <p:sp>
        <p:nvSpPr>
          <p:cNvPr id="10" name="Text 8"/>
          <p:cNvSpPr txBox="1"/>
          <p:nvPr/>
        </p:nvSpPr>
        <p:spPr>
          <a:xfrm>
            <a:off x="548640" y="306324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Language model</a:t>
            </a:r>
            <a:endParaRPr lang="en-US" sz="1400" dirty="0"/>
          </a:p>
        </p:txBody>
      </p:sp>
      <p:sp>
        <p:nvSpPr>
          <p:cNvPr id="11" name="Text 9"/>
          <p:cNvSpPr txBox="1"/>
          <p:nvPr/>
        </p:nvSpPr>
        <p:spPr>
          <a:xfrm>
            <a:off x="2240280" y="306324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Gemini 3.5 Flash-Lite with a JSON schema</a:t>
            </a:r>
            <a:endParaRPr lang="en-US" sz="1300" dirty="0"/>
          </a:p>
        </p:txBody>
      </p:sp>
      <p:sp>
        <p:nvSpPr>
          <p:cNvPr id="12" name="Text 10"/>
          <p:cNvSpPr txBox="1"/>
          <p:nvPr/>
        </p:nvSpPr>
        <p:spPr>
          <a:xfrm>
            <a:off x="548640" y="361188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Evaluation</a:t>
            </a:r>
            <a:endParaRPr lang="en-US" sz="1400" dirty="0"/>
          </a:p>
        </p:txBody>
      </p:sp>
      <p:sp>
        <p:nvSpPr>
          <p:cNvPr id="13" name="Text 11"/>
          <p:cNvSpPr txBox="1"/>
          <p:nvPr/>
        </p:nvSpPr>
        <p:spPr>
          <a:xfrm>
            <a:off x="2240280" y="361188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Synthetic dataset, fault injection, replayable runs</a:t>
            </a:r>
            <a:endParaRPr lang="en-US" sz="1300" dirty="0"/>
          </a:p>
        </p:txBody>
      </p:sp>
      <p:sp>
        <p:nvSpPr>
          <p:cNvPr id="14" name="Shape 12"/>
          <p:cNvSpPr/>
          <p:nvPr/>
        </p:nvSpPr>
        <p:spPr>
          <a:xfrm>
            <a:off x="5623560" y="1463040"/>
            <a:ext cx="0" cy="2606040"/>
          </a:xfrm>
          <a:prstGeom prst="line">
            <a:avLst/>
          </a:prstGeom>
          <a:noFill/>
          <a:ln w="9525">
            <a:solidFill>
              <a:srgbClr val="D4D4D8"/>
            </a:solidFill>
            <a:prstDash val="solid"/>
          </a:ln>
        </p:spPr>
      </p:sp>
      <p:sp>
        <p:nvSpPr>
          <p:cNvPr id="15" name="Text 13"/>
          <p:cNvSpPr txBox="1"/>
          <p:nvPr/>
        </p:nvSpPr>
        <p:spPr>
          <a:xfrm>
            <a:off x="5943600" y="137160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236</a:t>
            </a:r>
            <a:endParaRPr lang="en-US" sz="3000" dirty="0"/>
          </a:p>
        </p:txBody>
      </p:sp>
      <p:sp>
        <p:nvSpPr>
          <p:cNvPr id="16" name="Text 14"/>
          <p:cNvSpPr txBox="1"/>
          <p:nvPr/>
        </p:nvSpPr>
        <p:spPr>
          <a:xfrm>
            <a:off x="5943600" y="193852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backend tests passing</a:t>
            </a:r>
            <a:endParaRPr lang="en-US" sz="1200" dirty="0"/>
          </a:p>
        </p:txBody>
      </p:sp>
      <p:sp>
        <p:nvSpPr>
          <p:cNvPr id="17" name="Text 15"/>
          <p:cNvSpPr txBox="1"/>
          <p:nvPr/>
        </p:nvSpPr>
        <p:spPr>
          <a:xfrm>
            <a:off x="5943600" y="242316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16</a:t>
            </a:r>
            <a:endParaRPr lang="en-US" sz="3000" dirty="0"/>
          </a:p>
        </p:txBody>
      </p:sp>
      <p:sp>
        <p:nvSpPr>
          <p:cNvPr id="18" name="Text 16"/>
          <p:cNvSpPr txBox="1"/>
          <p:nvPr/>
        </p:nvSpPr>
        <p:spPr>
          <a:xfrm>
            <a:off x="5943600" y="299008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browser end-to-end tests</a:t>
            </a:r>
            <a:endParaRPr lang="en-US" sz="1200" dirty="0"/>
          </a:p>
        </p:txBody>
      </p:sp>
      <p:sp>
        <p:nvSpPr>
          <p:cNvPr id="19" name="Text 17"/>
          <p:cNvSpPr txBox="1"/>
          <p:nvPr/>
        </p:nvSpPr>
        <p:spPr>
          <a:xfrm>
            <a:off x="5943600" y="3474720"/>
            <a:ext cx="2560320" cy="548640"/>
          </a:xfrm>
          <a:prstGeom prst="rect">
            <a:avLst/>
          </a:prstGeom>
          <a:noFill/>
          <a:ln/>
        </p:spPr>
        <p:txBody>
          <a:bodyPr wrap="square" lIns="0" tIns="0" rIns="0" bIns="0" rtlCol="0" anchor="t"/>
          <a:lstStyle/>
          <a:p>
            <a:pPr indent="0" marL="0">
              <a:buNone/>
            </a:pPr>
            <a:r>
              <a:rPr lang="en-US" sz="3000" b="1" dirty="0">
                <a:solidFill>
                  <a:schemeClr val="accent1"/>
                </a:solidFill>
              </a:rPr>
              <a:t>29 / 30</a:t>
            </a:r>
            <a:endParaRPr lang="en-US" sz="3000" dirty="0"/>
          </a:p>
        </p:txBody>
      </p:sp>
      <p:sp>
        <p:nvSpPr>
          <p:cNvPr id="20" name="Text 18"/>
          <p:cNvSpPr txBox="1"/>
          <p:nvPr/>
        </p:nvSpPr>
        <p:spPr>
          <a:xfrm>
            <a:off x="5943600" y="4041648"/>
            <a:ext cx="2560320" cy="457200"/>
          </a:xfrm>
          <a:prstGeom prst="rect">
            <a:avLst/>
          </a:prstGeom>
          <a:noFill/>
          <a:ln/>
        </p:spPr>
        <p:txBody>
          <a:bodyPr wrap="square" lIns="0" tIns="0" rIns="0" bIns="0" rtlCol="0" anchor="t"/>
          <a:lstStyle/>
          <a:p>
            <a:pPr indent="0" marL="0">
              <a:buNone/>
            </a:pPr>
            <a:r>
              <a:rPr lang="en-US" sz="1200" dirty="0">
                <a:solidFill>
                  <a:schemeClr val="accent5"/>
                </a:solidFill>
              </a:rPr>
              <a:t>tests matched to the right reference page</a:t>
            </a:r>
            <a:endParaRPr lang="en-US" sz="1200" dirty="0"/>
          </a:p>
        </p:txBody>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Web application</a:t>
            </a:r>
            <a:endParaRPr lang="en-US" sz="11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The app</a:t>
            </a:r>
            <a:endParaRPr lang="en-US" sz="2800" dirty="0"/>
          </a:p>
        </p:txBody>
      </p:sp>
      <p:pic>
        <p:nvPicPr>
          <p:cNvPr id="4" name="Image 0" descr="/Users/richan_27/Library/Application Support/Claude/scratch-workspaces/8821d874-9d1d-447c-b3ce-86758ded99d7/e12ee5d5-8d20-414f-8940-61dc9a333d89/scratch-2026-10-27-9ba484/docs/presentation/assets/home.png">    </p:cNvPr>
          <p:cNvPicPr>
            <a:picLocks noChangeAspect="1"/>
          </p:cNvPicPr>
          <p:nvPr/>
        </p:nvPicPr>
        <p:blipFill>
          <a:blip r:embed="rId1"/>
          <a:stretch>
            <a:fillRect/>
          </a:stretch>
        </p:blipFill>
        <p:spPr>
          <a:xfrm>
            <a:off x="548640" y="1325880"/>
            <a:ext cx="3657600" cy="1766957"/>
          </a:xfrm>
          <a:prstGeom prst="rect">
            <a:avLst/>
          </a:prstGeom>
        </p:spPr>
      </p:pic>
      <p:sp>
        <p:nvSpPr>
          <p:cNvPr id="5" name="Shape 2"/>
          <p:cNvSpPr/>
          <p:nvPr/>
        </p:nvSpPr>
        <p:spPr>
          <a:xfrm>
            <a:off x="548640" y="1325880"/>
            <a:ext cx="3657600" cy="1766957"/>
          </a:xfrm>
          <a:prstGeom prst="rect">
            <a:avLst/>
          </a:prstGeom>
          <a:ln w="9525">
            <a:solidFill>
              <a:srgbClr val="D4D4D8"/>
            </a:solidFill>
            <a:prstDash val="solid"/>
          </a:ln>
        </p:spPr>
      </p:sp>
      <p:sp>
        <p:nvSpPr>
          <p:cNvPr id="6" name="Text 3"/>
          <p:cNvSpPr txBox="1"/>
          <p:nvPr/>
        </p:nvSpPr>
        <p:spPr>
          <a:xfrm>
            <a:off x="548640" y="3291840"/>
            <a:ext cx="3657600" cy="548640"/>
          </a:xfrm>
          <a:prstGeom prst="rect">
            <a:avLst/>
          </a:prstGeom>
          <a:noFill/>
          <a:ln/>
        </p:spPr>
        <p:txBody>
          <a:bodyPr wrap="square" lIns="0" tIns="0" rIns="0" bIns="0" rtlCol="0" anchor="t"/>
          <a:lstStyle/>
          <a:p>
            <a:pPr indent="0" marL="0">
              <a:buNone/>
            </a:pPr>
            <a:r>
              <a:rPr lang="en-US" sz="1200" b="1" dirty="0">
                <a:solidFill>
                  <a:schemeClr val="tx1"/>
                </a:solidFill>
              </a:rPr>
              <a:t>Upload a PDF or try a synthetic sample</a:t>
            </a:r>
            <a:endParaRPr lang="en-US" sz="1200" dirty="0"/>
          </a:p>
          <a:p>
            <a:pPr indent="0" marL="0">
              <a:buNone/>
            </a:pPr>
            <a:r>
              <a:rPr lang="en-US" sz="1200" dirty="0">
                <a:solidFill>
                  <a:schemeClr val="accent5"/>
                </a:solidFill>
              </a:rPr>
              <a:t>Processed in memory and never stored</a:t>
            </a:r>
            <a:endParaRPr lang="en-US" sz="1200" dirty="0"/>
          </a:p>
        </p:txBody>
      </p:sp>
      <p:pic>
        <p:nvPicPr>
          <p:cNvPr id="7" name="Image 1" descr="/Users/richan_27/Library/Application Support/Claude/scratch-workspaces/8821d874-9d1d-447c-b3ce-86758ded99d7/e12ee5d5-8d20-414f-8940-61dc9a333d89/scratch-2026-10-27-9ba484/docs/presentation/assets/results.png">    </p:cNvPr>
          <p:cNvPicPr>
            <a:picLocks noChangeAspect="1"/>
          </p:cNvPicPr>
          <p:nvPr/>
        </p:nvPicPr>
        <p:blipFill>
          <a:blip r:embed="rId2"/>
          <a:stretch>
            <a:fillRect/>
          </a:stretch>
        </p:blipFill>
        <p:spPr>
          <a:xfrm>
            <a:off x="4480560" y="1325880"/>
            <a:ext cx="4114800" cy="3138673"/>
          </a:xfrm>
          <a:prstGeom prst="rect">
            <a:avLst/>
          </a:prstGeom>
        </p:spPr>
      </p:pic>
      <p:sp>
        <p:nvSpPr>
          <p:cNvPr id="8" name="Shape 4"/>
          <p:cNvSpPr/>
          <p:nvPr/>
        </p:nvSpPr>
        <p:spPr>
          <a:xfrm>
            <a:off x="4480560" y="1325880"/>
            <a:ext cx="4114800" cy="3138673"/>
          </a:xfrm>
          <a:prstGeom prst="rect">
            <a:avLst/>
          </a:prstGeom>
          <a:ln w="9525">
            <a:solidFill>
              <a:srgbClr val="D4D4D8"/>
            </a:solidFill>
            <a:prstDash val="solid"/>
          </a:ln>
        </p:spPr>
      </p:sp>
      <p:sp>
        <p:nvSpPr>
          <p:cNvPr id="25" name="Slide Number Placeholder 0"/>
          <p:cNvSpPr>
            <a:spLocks noGrp="1"/>
          </p:cNvSpPr>
          <p:nvPr>
            <p:ph type="sldNum" sz="quarter" idx="4294967295"/>
          </p:nvPr>
        </p:nvSpPr>
        <p:spPr>
          <a:xfrm>
            <a:off x="822960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566928"/>
            <a:ext cx="8046720" cy="548640"/>
          </a:xfrm>
          <a:prstGeom prst="rect">
            <a:avLst/>
          </a:prstGeom>
          <a:noFill/>
          <a:ln/>
        </p:spPr>
        <p:txBody>
          <a:bodyPr wrap="square" lIns="0" tIns="0" rIns="0" bIns="0" rtlCol="0" anchor="t"/>
          <a:lstStyle/>
          <a:p>
            <a:pPr indent="0" marL="0">
              <a:buNone/>
            </a:pPr>
            <a:r>
              <a:rPr lang="en-US" sz="2800" b="1" dirty="0">
                <a:solidFill>
                  <a:schemeClr val="tx1"/>
                </a:solidFill>
              </a:rPr>
              <a:t>Next steps</a:t>
            </a:r>
            <a:endParaRPr lang="en-US" sz="2800" dirty="0"/>
          </a:p>
        </p:txBody>
      </p:sp>
      <p:sp>
        <p:nvSpPr>
          <p:cNvPr id="3" name="Text 1"/>
          <p:cNvSpPr txBox="1"/>
          <p:nvPr/>
        </p:nvSpPr>
        <p:spPr>
          <a:xfrm>
            <a:off x="54864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Done</a:t>
            </a:r>
            <a:endParaRPr lang="en-US" sz="1500" dirty="0"/>
          </a:p>
        </p:txBody>
      </p:sp>
      <p:sp>
        <p:nvSpPr>
          <p:cNvPr id="4" name="Text 2"/>
          <p:cNvSpPr txBox="1"/>
          <p:nvPr/>
        </p:nvSpPr>
        <p:spPr>
          <a:xfrm>
            <a:off x="548640" y="1828800"/>
            <a:ext cx="2468880" cy="1737360"/>
          </a:xfrm>
          <a:prstGeom prst="rect">
            <a:avLst/>
          </a:prstGeom>
          <a:noFill/>
          <a:ln/>
        </p:spPr>
        <p:txBody>
          <a:bodyPr wrap="square" lIns="0" tIns="0" rIns="0" bIns="0" rtlCol="0" anchor="t"/>
          <a:lstStyle/>
          <a:p>
            <a:pPr indent="0" marL="0">
              <a:spcAft>
                <a:spcPts val="700"/>
              </a:spcAft>
              <a:buNone/>
            </a:pPr>
            <a:r>
              <a:rPr lang="en-US" sz="1300" dirty="0">
                <a:solidFill>
                  <a:schemeClr val="tx1"/>
                </a:solidFill>
              </a:rPr>
              <a:t>Web app with live summaries</a:t>
            </a:r>
            <a:endParaRPr lang="en-US" sz="1300" dirty="0"/>
          </a:p>
          <a:p>
            <a:pPr indent="0" marL="0">
              <a:spcAft>
                <a:spcPts val="700"/>
              </a:spcAft>
              <a:buNone/>
            </a:pPr>
            <a:r>
              <a:rPr lang="en-US" sz="1300" dirty="0">
                <a:solidFill>
                  <a:schemeClr val="tx1"/>
                </a:solidFill>
              </a:rPr>
              <a:t>RAG library and citations</a:t>
            </a:r>
            <a:endParaRPr lang="en-US" sz="1300" dirty="0"/>
          </a:p>
          <a:p>
            <a:pPr indent="0" marL="0">
              <a:spcAft>
                <a:spcPts val="700"/>
              </a:spcAft>
              <a:buNone/>
            </a:pPr>
            <a:r>
              <a:rPr lang="en-US" sz="1300" dirty="0">
                <a:solidFill>
                  <a:schemeClr val="tx1"/>
                </a:solidFill>
              </a:rPr>
              <a:t>Safety validator and evaluation</a:t>
            </a:r>
            <a:endParaRPr lang="en-US" sz="1300" dirty="0"/>
          </a:p>
          <a:p>
            <a:pPr indent="0" marL="0">
              <a:spcAft>
                <a:spcPts val="700"/>
              </a:spcAft>
              <a:buNone/>
            </a:pPr>
            <a:r>
              <a:rPr lang="en-US" sz="1300" dirty="0">
                <a:solidFill>
                  <a:schemeClr val="tx1"/>
                </a:solidFill>
              </a:rPr>
              <a:t>Public GitHub repository</a:t>
            </a:r>
            <a:endParaRPr lang="en-US" sz="1300" dirty="0"/>
          </a:p>
        </p:txBody>
      </p:sp>
      <p:sp>
        <p:nvSpPr>
          <p:cNvPr id="5" name="Shape 3"/>
          <p:cNvSpPr/>
          <p:nvPr/>
        </p:nvSpPr>
        <p:spPr>
          <a:xfrm>
            <a:off x="3154680" y="1463040"/>
            <a:ext cx="0" cy="1920240"/>
          </a:xfrm>
          <a:prstGeom prst="line">
            <a:avLst/>
          </a:prstGeom>
          <a:noFill/>
          <a:ln w="9525">
            <a:solidFill>
              <a:srgbClr val="D4D4D8"/>
            </a:solidFill>
            <a:prstDash val="solid"/>
          </a:ln>
        </p:spPr>
      </p:sp>
      <p:sp>
        <p:nvSpPr>
          <p:cNvPr id="6" name="Text 4"/>
          <p:cNvSpPr txBox="1"/>
          <p:nvPr/>
        </p:nvSpPr>
        <p:spPr>
          <a:xfrm>
            <a:off x="333756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Limitations</a:t>
            </a:r>
            <a:endParaRPr lang="en-US" sz="1500" dirty="0"/>
          </a:p>
        </p:txBody>
      </p:sp>
      <p:sp>
        <p:nvSpPr>
          <p:cNvPr id="7" name="Text 5"/>
          <p:cNvSpPr txBox="1"/>
          <p:nvPr/>
        </p:nvSpPr>
        <p:spPr>
          <a:xfrm>
            <a:off x="3337560" y="1828800"/>
            <a:ext cx="2468880" cy="1737360"/>
          </a:xfrm>
          <a:prstGeom prst="rect">
            <a:avLst/>
          </a:prstGeom>
          <a:noFill/>
          <a:ln/>
        </p:spPr>
        <p:txBody>
          <a:bodyPr wrap="square" lIns="0" tIns="0" rIns="0" bIns="0" rtlCol="0" anchor="t"/>
          <a:lstStyle/>
          <a:p>
            <a:pPr indent="0" marL="0">
              <a:spcAft>
                <a:spcPts val="700"/>
              </a:spcAft>
              <a:buNone/>
            </a:pPr>
            <a:r>
              <a:rPr lang="en-US" sz="1300" dirty="0">
                <a:solidFill>
                  <a:schemeClr val="tx1"/>
                </a:solidFill>
              </a:rPr>
              <a:t>No OCR for scanned reports</a:t>
            </a:r>
            <a:endParaRPr lang="en-US" sz="1300" dirty="0"/>
          </a:p>
          <a:p>
            <a:pPr indent="0" marL="0">
              <a:spcAft>
                <a:spcPts val="700"/>
              </a:spcAft>
              <a:buNone/>
            </a:pPr>
            <a:r>
              <a:rPr lang="en-US" sz="1300" dirty="0">
                <a:solidFill>
                  <a:schemeClr val="tx1"/>
                </a:solidFill>
              </a:rPr>
              <a:t>Age-based ranges not compared</a:t>
            </a:r>
            <a:endParaRPr lang="en-US" sz="1300" dirty="0"/>
          </a:p>
          <a:p>
            <a:pPr indent="0" marL="0">
              <a:spcAft>
                <a:spcPts val="700"/>
              </a:spcAft>
              <a:buNone/>
            </a:pPr>
            <a:r>
              <a:rPr lang="en-US" sz="1300" dirty="0">
                <a:solidFill>
                  <a:schemeClr val="tx1"/>
                </a:solidFill>
              </a:rPr>
              <a:t>Rule-based safety checks</a:t>
            </a:r>
            <a:endParaRPr lang="en-US" sz="1300" dirty="0"/>
          </a:p>
          <a:p>
            <a:pPr indent="0" marL="0">
              <a:spcAft>
                <a:spcPts val="700"/>
              </a:spcAft>
              <a:buNone/>
            </a:pPr>
            <a:r>
              <a:rPr lang="en-US" sz="1300" dirty="0">
                <a:solidFill>
                  <a:schemeClr val="tx1"/>
                </a:solidFill>
              </a:rPr>
              <a:t>No human ratings yet</a:t>
            </a:r>
            <a:endParaRPr lang="en-US" sz="1300" dirty="0"/>
          </a:p>
        </p:txBody>
      </p:sp>
      <p:sp>
        <p:nvSpPr>
          <p:cNvPr id="8" name="Shape 6"/>
          <p:cNvSpPr/>
          <p:nvPr/>
        </p:nvSpPr>
        <p:spPr>
          <a:xfrm>
            <a:off x="5943600" y="1463040"/>
            <a:ext cx="0" cy="1920240"/>
          </a:xfrm>
          <a:prstGeom prst="line">
            <a:avLst/>
          </a:prstGeom>
          <a:noFill/>
          <a:ln w="9525">
            <a:solidFill>
              <a:srgbClr val="D4D4D8"/>
            </a:solidFill>
            <a:prstDash val="solid"/>
          </a:ln>
        </p:spPr>
      </p:sp>
      <p:sp>
        <p:nvSpPr>
          <p:cNvPr id="9" name="Text 7"/>
          <p:cNvSpPr txBox="1"/>
          <p:nvPr/>
        </p:nvSpPr>
        <p:spPr>
          <a:xfrm>
            <a:off x="6126480" y="1417320"/>
            <a:ext cx="2468880" cy="320040"/>
          </a:xfrm>
          <a:prstGeom prst="rect">
            <a:avLst/>
          </a:prstGeom>
          <a:noFill/>
          <a:ln/>
        </p:spPr>
        <p:txBody>
          <a:bodyPr wrap="square" lIns="0" tIns="0" rIns="0" bIns="0" rtlCol="0" anchor="t"/>
          <a:lstStyle/>
          <a:p>
            <a:pPr indent="0" marL="0">
              <a:buNone/>
            </a:pPr>
            <a:r>
              <a:rPr lang="en-US" sz="1500" b="1" dirty="0">
                <a:solidFill>
                  <a:schemeClr val="tx1"/>
                </a:solidFill>
              </a:rPr>
              <a:t>Next</a:t>
            </a:r>
            <a:endParaRPr lang="en-US" sz="1500" dirty="0"/>
          </a:p>
        </p:txBody>
      </p:sp>
      <p:sp>
        <p:nvSpPr>
          <p:cNvPr id="10" name="Text 8"/>
          <p:cNvSpPr txBox="1"/>
          <p:nvPr/>
        </p:nvSpPr>
        <p:spPr>
          <a:xfrm>
            <a:off x="6126480" y="1828800"/>
            <a:ext cx="2468880" cy="1737360"/>
          </a:xfrm>
          <a:prstGeom prst="rect">
            <a:avLst/>
          </a:prstGeom>
          <a:noFill/>
          <a:ln/>
        </p:spPr>
        <p:txBody>
          <a:bodyPr wrap="square" lIns="0" tIns="0" rIns="0" bIns="0" rtlCol="0" anchor="t"/>
          <a:lstStyle/>
          <a:p>
            <a:pPr indent="0" marL="0">
              <a:spcAft>
                <a:spcPts val="700"/>
              </a:spcAft>
              <a:buNone/>
            </a:pPr>
            <a:r>
              <a:rPr lang="en-US" sz="1300" dirty="0">
                <a:solidFill>
                  <a:schemeClr val="tx1"/>
                </a:solidFill>
              </a:rPr>
              <a:t>Human ratings of summaries</a:t>
            </a:r>
            <a:endParaRPr lang="en-US" sz="1300" dirty="0"/>
          </a:p>
          <a:p>
            <a:pPr indent="0" marL="0">
              <a:spcAft>
                <a:spcPts val="700"/>
              </a:spcAft>
              <a:buNone/>
            </a:pPr>
            <a:r>
              <a:rPr lang="en-US" sz="1300" dirty="0">
                <a:solidFill>
                  <a:schemeClr val="tx1"/>
                </a:solidFill>
              </a:rPr>
              <a:t>Independent held-out safety set</a:t>
            </a:r>
            <a:endParaRPr lang="en-US" sz="1300" dirty="0"/>
          </a:p>
          <a:p>
            <a:pPr indent="0" marL="0">
              <a:spcAft>
                <a:spcPts val="700"/>
              </a:spcAft>
              <a:buNone/>
            </a:pPr>
            <a:r>
              <a:rPr lang="en-US" sz="1300" dirty="0">
                <a:solidFill>
                  <a:schemeClr val="tx1"/>
                </a:solidFill>
              </a:rPr>
              <a:t>OCR and more report layouts</a:t>
            </a:r>
            <a:endParaRPr lang="en-US" sz="1300" dirty="0"/>
          </a:p>
          <a:p>
            <a:pPr indent="0" marL="0">
              <a:spcAft>
                <a:spcPts val="700"/>
              </a:spcAft>
              <a:buNone/>
            </a:pPr>
            <a:r>
              <a:rPr lang="en-US" sz="1300" dirty="0">
                <a:solidFill>
                  <a:schemeClr val="tx1"/>
                </a:solidFill>
              </a:rPr>
              <a:t>Wider reference library</a:t>
            </a:r>
            <a:endParaRPr lang="en-US" sz="1300" dirty="0"/>
          </a:p>
        </p:txBody>
      </p:sp>
      <p:sp>
        <p:nvSpPr>
          <p:cNvPr id="11" name="Shape 9"/>
          <p:cNvSpPr/>
          <p:nvPr/>
        </p:nvSpPr>
        <p:spPr>
          <a:xfrm>
            <a:off x="548640" y="3703320"/>
            <a:ext cx="8046720" cy="0"/>
          </a:xfrm>
          <a:prstGeom prst="line">
            <a:avLst/>
          </a:prstGeom>
          <a:noFill/>
          <a:ln w="9525">
            <a:solidFill>
              <a:srgbClr val="D4D4D8"/>
            </a:solidFill>
            <a:prstDash val="solid"/>
          </a:ln>
        </p:spPr>
      </p:sp>
      <p:sp>
        <p:nvSpPr>
          <p:cNvPr id="12" name="Text 10"/>
          <p:cNvSpPr txBox="1"/>
          <p:nvPr/>
        </p:nvSpPr>
        <p:spPr>
          <a:xfrm>
            <a:off x="548640" y="3886200"/>
            <a:ext cx="8046720" cy="548640"/>
          </a:xfrm>
          <a:prstGeom prst="rect">
            <a:avLst/>
          </a:prstGeom>
          <a:noFill/>
          <a:ln/>
        </p:spPr>
        <p:txBody>
          <a:bodyPr wrap="square" lIns="0" tIns="0" rIns="0" bIns="0" rtlCol="0" anchor="t"/>
          <a:lstStyle/>
          <a:p>
            <a:pPr indent="0" marL="0">
              <a:buNone/>
            </a:pPr>
            <a:r>
              <a:rPr lang="en-US" sz="2400" b="1" dirty="0">
                <a:solidFill>
                  <a:schemeClr val="accent1"/>
                </a:solidFill>
              </a:rPr>
              <a:t>Thank you. Questions?</a:t>
            </a:r>
            <a:endParaRPr lang="en-US" sz="2400" dirty="0"/>
          </a:p>
        </p:txBody>
      </p:sp>
    </p:spTree>
  </p:cSld>
  <p:clrMapOvr>
    <a:masterClrMapping/>
  </p:clrMapOvr>
</p:sld>
</file>

<file path=ppt/theme/theme1.xml><?xml version="1.0" encoding="utf-8"?>
<a:theme xmlns:a="http://schemas.openxmlformats.org/drawingml/2006/main" name="MediSimplify Minimal">
  <a:themeElements>
    <a:clrScheme name="MediSimplify Minimal">
      <a:dk1>
        <a:srgbClr val="1A1A1A"/>
      </a:dk1>
      <a:lt1>
        <a:srgbClr val="FFFFFF"/>
      </a:lt1>
      <a:dk2>
        <a:srgbClr val="1A1A1A"/>
      </a:dk2>
      <a:lt2>
        <a:srgbClr val="F4F4F5"/>
      </a:lt2>
      <a:accent1>
        <a:srgbClr val="0F766E"/>
      </a:accent1>
      <a:accent2>
        <a:srgbClr val="A1A1AA"/>
      </a:accent2>
      <a:accent3>
        <a:srgbClr val="D4D4D8"/>
      </a:accent3>
      <a:accent4>
        <a:srgbClr val="B42318"/>
      </a:accent4>
      <a:accent5>
        <a:srgbClr val="6B7280"/>
      </a:accent5>
      <a:accent6>
        <a:srgbClr val="3F3F46"/>
      </a:accent6>
      <a:hlink>
        <a:srgbClr val="0F766E"/>
      </a:hlink>
      <a:folHlink>
        <a:srgbClr val="6B7280"/>
      </a:folHlink>
    </a:clrScheme>
    <a:fontScheme name="MediSimplify Mini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MediSimplify – Project Review</dc:title>
  <dc:subject>PptxGenJS Presentation</dc:subject>
  <dc:creator>Richan Abraham J R, Sourav Ghosh</dc:creator>
  <cp:lastModifiedBy>Richan Abraham J R, Sourav Ghosh</cp:lastModifiedBy>
  <cp:revision>1</cp:revision>
  <dcterms:created xsi:type="dcterms:W3CDTF">2026-10-28T07:34:11Z</dcterms:created>
  <dcterms:modified xsi:type="dcterms:W3CDTF">2026-10-28T07:34:11Z</dcterms:modified>
</cp:coreProperties>
</file>